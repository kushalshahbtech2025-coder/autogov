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 to AutoGov+ presentation. Team Innova8 (T049), Problem Statement SIH26102. Live demo available at: https://printed-blind-lil-arch.trycloudflare.com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Addressing the issue: Manual challenges take 15-30 days, caseworker fatigue, no cross-department fraud checks. AutoGov+ brings auto-decision in seconds, 100% forgery scanning, and automated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Approach: React PWA, FastAPI/Express, PyTorch CNN ELA, XGBoost, FAISS, SHAP explainable AI, and strict AES-256 with TLS 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 &amp; Viability: Technology is proven, data noise handled via OpenCV preprocessing, saves public funds, empowers caseworkers via Human-in-the-Loop Cockpit.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&amp; Benefits: 10x faster clearances, 3-5 minute targeted officer reviews, 100% forgery detection, duplicate funding prevention, continuous active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&amp; References: RTS Act, DPDP Act 2023, MeitY guidelines, CNN ELA, and SHAP explainability. Live demo: https://printed-blind-lil-arch.trycloudflare.com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2004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  <a:latin typeface="Calibri"/>
              </a:defRPr>
            </a:pPr>
            <a:r>
              <a:t>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05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Problem Statement ID - </a:t>
            </a:r>
            <a:r>
              <a:rPr i="1" sz="1400">
                <a:solidFill>
                  <a:srgbClr val="004C99"/>
                </a:solidFill>
              </a:rPr>
              <a:t>SIH26102</a:t>
            </a:r>
          </a:p>
          <a:p>
            <a:pPr>
              <a:spcAft>
                <a:spcPts val="14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Problem Statement Title  - </a:t>
            </a:r>
            <a:r>
              <a:rPr i="1" sz="1400">
                <a:solidFill>
                  <a:srgbClr val="004C99"/>
                </a:solidFill>
              </a:rPr>
              <a:t>AI-powered system to detect anomalies, fraud, and inefficiencies in MPLAD Scheme implementation regd.</a:t>
            </a:r>
          </a:p>
          <a:p>
            <a:pPr>
              <a:spcAft>
                <a:spcPts val="14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Theme  - </a:t>
            </a:r>
            <a:r>
              <a:rPr i="1" sz="1400">
                <a:solidFill>
                  <a:srgbClr val="004C99"/>
                </a:solidFill>
              </a:rPr>
              <a:t>Smart Governance, e-Governance and Smart Automation</a:t>
            </a:r>
          </a:p>
          <a:p>
            <a:pPr>
              <a:spcAft>
                <a:spcPts val="14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PS Category - </a:t>
            </a:r>
            <a:r>
              <a:rPr i="1" sz="1400">
                <a:solidFill>
                  <a:srgbClr val="004C99"/>
                </a:solidFill>
              </a:rPr>
              <a:t>Software</a:t>
            </a:r>
          </a:p>
          <a:p>
            <a:pPr>
              <a:spcAft>
                <a:spcPts val="14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Team ID – </a:t>
            </a:r>
            <a:r>
              <a:rPr i="1" sz="1400">
                <a:solidFill>
                  <a:srgbClr val="004C99"/>
                </a:solidFill>
              </a:rPr>
              <a:t>T049</a:t>
            </a:r>
          </a:p>
          <a:p>
            <a:pPr>
              <a:spcAft>
                <a:spcPts val="14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Team Name – </a:t>
            </a:r>
            <a:r>
              <a:rPr i="1" sz="1400">
                <a:solidFill>
                  <a:srgbClr val="004C99"/>
                </a:solidFill>
              </a:rPr>
              <a:t>Innova8</a:t>
            </a:r>
          </a:p>
        </p:txBody>
      </p:sp>
      <p:pic>
        <p:nvPicPr>
          <p:cNvPr id="8" name="Picture 7" descr="page_1_img_1_Imag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00200"/>
            <a:ext cx="301752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58064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Siddhant Sinha | 25070123109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Alisha Mittal | 25070126214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Nirvan Joneja | 25070126117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8064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Mannat Tanda | 25070126107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Kushal Shah | 25070126097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Karthik Prakash | 25070126088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ADDRESSING THE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9" name="Picture 8" descr="page_2_img_1_Imag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9326880" cy="3246120"/>
          </a:xfrm>
          <a:prstGeom prst="rect">
            <a:avLst/>
          </a:prstGeom>
        </p:spPr>
      </p:pic>
      <p:pic>
        <p:nvPicPr>
          <p:cNvPr id="10" name="Picture 9" descr="page_2_img_2_Image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663440"/>
            <a:ext cx="932688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TECHNICAL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Frontend </a:t>
            </a:r>
            <a:r>
              <a:rPr sz="1050">
                <a:solidFill>
                  <a:srgbClr val="000000"/>
                </a:solidFill>
              </a:rPr>
              <a:t>— React.js, Tailwind, PWA officer dashboard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Backend/API </a:t>
            </a:r>
            <a:r>
              <a:rPr sz="1050">
                <a:solidFill>
                  <a:srgbClr val="000000"/>
                </a:solidFill>
              </a:rPr>
              <a:t>— FastAPI or Django REST, orchestrates the pipeline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OCR/NLP </a:t>
            </a:r>
            <a:r>
              <a:rPr sz="1050">
                <a:solidFill>
                  <a:srgbClr val="000000"/>
                </a:solidFill>
              </a:rPr>
              <a:t>— Tesseract/Vision API + HuggingFace NER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Forgery detection </a:t>
            </a:r>
            <a:r>
              <a:rPr sz="1050">
                <a:solidFill>
                  <a:srgbClr val="000000"/>
                </a:solidFill>
              </a:rPr>
              <a:t>— PyTorch CNN, ELA-based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Risk scoring </a:t>
            </a:r>
            <a:r>
              <a:rPr sz="1050">
                <a:solidFill>
                  <a:srgbClr val="000000"/>
                </a:solidFill>
              </a:rPr>
              <a:t>— XGBoost / scikit-learn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Entity matching </a:t>
            </a:r>
            <a:r>
              <a:rPr sz="1050">
                <a:solidFill>
                  <a:srgbClr val="000000"/>
                </a:solidFill>
              </a:rPr>
              <a:t>— Sentence-Transformers + FAISS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Explainability </a:t>
            </a:r>
            <a:r>
              <a:rPr sz="1050">
                <a:solidFill>
                  <a:srgbClr val="000000"/>
                </a:solidFill>
              </a:rPr>
              <a:t>— SHAP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MLOps </a:t>
            </a:r>
            <a:r>
              <a:rPr sz="1050">
                <a:solidFill>
                  <a:srgbClr val="000000"/>
                </a:solidFill>
              </a:rPr>
              <a:t>— MLflow, scheduled retraining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Data/Infra </a:t>
            </a:r>
            <a:r>
              <a:rPr sz="1050">
                <a:solidFill>
                  <a:srgbClr val="000000"/>
                </a:solidFill>
              </a:rPr>
              <a:t>— PostgreSQL, Docker/NGINX, gov cloud VM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Security </a:t>
            </a:r>
            <a:r>
              <a:rPr sz="1050">
                <a:solidFill>
                  <a:srgbClr val="000000"/>
                </a:solidFill>
              </a:rPr>
              <a:t>— JWT auth, AES-256 at rest, TLS 1.3 in transit</a:t>
            </a:r>
          </a:p>
        </p:txBody>
      </p:sp>
      <p:pic>
        <p:nvPicPr>
          <p:cNvPr id="11" name="Picture 10" descr="page_3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828800"/>
            <a:ext cx="49377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9" name="Picture 8" descr="page_4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384048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150876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4C99"/>
                </a:solidFill>
                <a:latin typeface="Calibri"/>
              </a:defRPr>
            </a:pPr>
            <a:r>
              <a:t>Feasibility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The technology is ready: </a:t>
            </a:r>
            <a:r>
              <a:rPr sz="1150">
                <a:solidFill>
                  <a:srgbClr val="000000"/>
                </a:solidFill>
              </a:rPr>
              <a:t>The AI tools needed to spot fraud and unusual patterns already exist and are widely used by banks today.</a:t>
            </a:r>
          </a:p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Getting good data is hard: </a:t>
            </a:r>
            <a:r>
              <a:rPr sz="1150">
                <a:solidFill>
                  <a:srgbClr val="000000"/>
                </a:solidFill>
              </a:rPr>
              <a:t>The AI is only as smart as the information it gets, so forcing all local government offices to upload clean, digital records will be a major challenge.</a:t>
            </a:r>
          </a:p>
          <a:p>
            <a:pPr>
              <a:spcAft>
                <a:spcPts val="400"/>
              </a:spcAft>
              <a:defRPr sz="1500" b="1">
                <a:solidFill>
                  <a:srgbClr val="004C99"/>
                </a:solidFill>
                <a:latin typeface="Calibri"/>
              </a:defRPr>
            </a:pPr>
            <a:r>
              <a:t>Viability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It saves a lot of money: </a:t>
            </a:r>
            <a:r>
              <a:rPr sz="1150">
                <a:solidFill>
                  <a:srgbClr val="000000"/>
                </a:solidFill>
              </a:rPr>
              <a:t>The system will easily pay for itself by stopping wasted funds, fake projects, and contractor corruption.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People will fight it: </a:t>
            </a:r>
            <a:r>
              <a:rPr sz="1150">
                <a:solidFill>
                  <a:srgbClr val="000000"/>
                </a:solidFill>
              </a:rPr>
              <a:t>Corrupt officials or dishonest contractors who make money off the current broken system will strongly resist using this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</a:rPr>
              <a:t>•  </a:t>
            </a:r>
            <a:r>
              <a:rPr b="1" sz="1488">
                <a:solidFill>
                  <a:srgbClr val="000000"/>
                </a:solidFill>
              </a:rPr>
              <a:t>10x Faster Clearances:
    </a:t>
            </a:r>
            <a:r>
              <a:rPr sz="1488">
                <a:solidFill>
                  <a:srgbClr val="000000"/>
                </a:solidFill>
              </a:rPr>
              <a:t>Auto-approves low-risk projects in under 48 hours instead of taking 15–30 days.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</a:rPr>
              <a:t>•  </a:t>
            </a:r>
            <a:r>
              <a:rPr b="1" sz="1488">
                <a:solidFill>
                  <a:srgbClr val="000000"/>
                </a:solidFill>
              </a:rPr>
              <a:t>Targeted Officer Review:
    </a:t>
            </a:r>
            <a:r>
              <a:rPr sz="1488">
                <a:solidFill>
                  <a:srgbClr val="000000"/>
                </a:solidFill>
              </a:rPr>
              <a:t>Uses risk scoring so officials only spend 3–5 minutes reviewing high -risk files.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</a:rPr>
              <a:t>•  </a:t>
            </a:r>
            <a:r>
              <a:rPr b="1" sz="1488">
                <a:solidFill>
                  <a:srgbClr val="000000"/>
                </a:solidFill>
              </a:rPr>
              <a:t>Total Forgery Detection:
    </a:t>
            </a:r>
            <a:r>
              <a:rPr sz="1488">
                <a:solidFill>
                  <a:srgbClr val="000000"/>
                </a:solidFill>
              </a:rPr>
              <a:t>Scans every single bill and certificate for tampering, leaving no blind spots.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</a:rPr>
              <a:t>•  </a:t>
            </a:r>
            <a:r>
              <a:rPr b="1" sz="1488">
                <a:solidFill>
                  <a:srgbClr val="000000"/>
                </a:solidFill>
              </a:rPr>
              <a:t>Prevents Duplicate Funding:
    </a:t>
            </a:r>
            <a:r>
              <a:rPr sz="1488">
                <a:solidFill>
                  <a:srgbClr val="000000"/>
                </a:solidFill>
              </a:rPr>
              <a:t>Cross-checks department data to stop the same work from being billed under multiple schemes.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488">
                <a:solidFill>
                  <a:srgbClr val="000000"/>
                </a:solidFill>
              </a:rPr>
              <a:t>•  </a:t>
            </a:r>
            <a:r>
              <a:rPr b="1" sz="1488">
                <a:solidFill>
                  <a:srgbClr val="000000"/>
                </a:solidFill>
              </a:rPr>
              <a:t>Continuous Learning:
    </a:t>
            </a:r>
            <a:r>
              <a:rPr sz="1488">
                <a:solidFill>
                  <a:srgbClr val="000000"/>
                </a:solidFill>
              </a:rPr>
              <a:t>Updates automatically from officer feedback to catch new fraud patterns.</a:t>
            </a:r>
          </a:p>
        </p:txBody>
      </p:sp>
      <p:pic>
        <p:nvPicPr>
          <p:cNvPr id="10" name="Picture 9" descr="page_5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783080"/>
            <a:ext cx="406908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9164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u="sng">
                <a:solidFill>
                  <a:srgbClr val="004C99"/>
                </a:solidFill>
                <a:latin typeface="Calibri"/>
              </a:defRPr>
            </a:pPr>
            <a:r>
              <a:t>Policy &amp; government frameworks (2 sources)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</a:t>
            </a:r>
            <a:r>
              <a:rPr sz="1150">
                <a:solidFill>
                  <a:srgbClr val="000000"/>
                </a:solidFill>
              </a:rPr>
              <a:t>Right to Public Services (RTS) Act — turnaround benchmarks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</a:t>
            </a:r>
            <a:r>
              <a:rPr sz="1150">
                <a:solidFill>
                  <a:srgbClr val="000000"/>
                </a:solidFill>
              </a:rPr>
              <a:t>MeitY Digital India / e-Governance AI adoption guidelines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300" b="1" u="sng">
                <a:solidFill>
                  <a:srgbClr val="004C99"/>
                </a:solidFill>
                <a:latin typeface="Calibri"/>
              </a:defRPr>
            </a:pPr>
            <a:r>
              <a:t>Technical research (2 sources)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</a:t>
            </a:r>
            <a:r>
              <a:rPr sz="1150">
                <a:solidFill>
                  <a:srgbClr val="000000"/>
                </a:solidFill>
              </a:rPr>
              <a:t>CNN-based document forgery detection (ELA methods)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</a:t>
            </a:r>
            <a:r>
              <a:rPr sz="1150">
                <a:solidFill>
                  <a:srgbClr val="000000"/>
                </a:solidFill>
              </a:rPr>
              <a:t>SHAP — SHapley Additive exPlanations, explainability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645920"/>
            <a:ext cx="4389120" cy="365760"/>
          </a:xfrm>
          <a:prstGeom prst="rect">
            <a:avLst/>
          </a:prstGeom>
          <a:solidFill>
            <a:srgbClr val="006680"/>
          </a:solidFill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END TO END WORKFLOW</a:t>
            </a:r>
          </a:p>
        </p:txBody>
      </p:sp>
      <p:pic>
        <p:nvPicPr>
          <p:cNvPr id="11" name="Picture 10" descr="page_6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194560"/>
            <a:ext cx="448056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