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0058400" cy="7772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morning esteemed judges and jury members. We are Team Innova8 (Team ID: T049), presenting our solution for Problem Statement SIH26102: 'AI-powered system to detect anomalies, fraud, and inefficiencies in MPLAD Scheme implementation and e-Governance'.</a:t>
            </a:r>
          </a:p>
          <a:p/>
          <a:p>
            <a:r>
              <a:t>Our solution, AutoGov+, is an end-to-end, privacy-preserving automated verification and adjudication platform. It is fully built and deployed live on the cloud at: https://printed-blind-lil-arch.trycloudflare.com.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Examining the ground reality of citizen document and scheme adjudication: Today, files take 15 to 30 days because officers manually inspect thousands of dossiers. Caseworkers spend equal time on authentic and fraudulent files. AutoGov+ completely transforms this with an autonomous decision layer that clears low-risk cases in seconds, scans 100% of documents for tampering, catches cross-department duplicate applicants, and automates judgment calls.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Technical Stack combines React and Tailwind for the Officer PWA dashboard, FastAPI/Express backend, OpenCV/Tesseract for OCR and LayoutLM geometry classification, PyTorch CNN with ELA for forgery detection, XGBoost for calibrated risk scoring, Sentence-Transformers + FAISS for duplicate matching, SHAP for explainable AI, and strict AES-256 encryption with TLS 1.3 and zero-PII retention.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Feasibility and Viability: The technology is battle-tested in banking and defense. We handle real-world noisy camera scans through automated pre-processing. Viability: The platform saves massive public funds by halting fake projects, and provides an intuitive Human-in-the-Loop Cockpit that empowers officers with mathematical SHAP evidence and immutable audit trails.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Impact and Benefits: 10x faster clearances (&lt;48h for complex files, 4.8s for standard certificates), targeted officer review (3-5 minutes on flagged files), 100% forgery scanning, prevention of duplicate funding across schemes, and continuous learning that updates from officer overrides.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Research and References: Grounded in statutory policy (Right to Public Services Act, MeitY Digital India AI Guidelines, DPDP Act 2023) and scientific research (CNN Error Level Analysis and SHAP explainability). Our 10-step end-to-end pipeline is fully operational. We invite the jury to test our live demo at: https://printed-blind-lil-arch.trycloudflare.com.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4.jpg"/><Relationship Id="rId5" Type="http://schemas.openxmlformats.org/officeDocument/2006/relationships/image" Target="../media/image5.jpg"/><Relationship Id="rId6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6.jpg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7.jpg"/><Relationship Id="rId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8.jpg"/><Relationship Id="rId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9.jpg"/><Relationship Id="rId5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ge_1_img_3_Image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20040"/>
            <a:ext cx="914400" cy="914400"/>
          </a:xfrm>
          <a:prstGeom prst="rect">
            <a:avLst/>
          </a:prstGeom>
        </p:spPr>
      </p:pic>
      <p:pic>
        <p:nvPicPr>
          <p:cNvPr id="4" name="Picture 3" descr="page_1_img_2_Image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320040"/>
            <a:ext cx="1645920" cy="822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71600" y="365760"/>
            <a:ext cx="6583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A365D"/>
                </a:solidFill>
                <a:latin typeface="Calibri"/>
              </a:defRPr>
            </a:pPr>
            <a:r>
              <a:t>SMART INDIA HACKATHON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105156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00000"/>
                </a:solidFill>
                <a:latin typeface="Times New Roman"/>
              </a:defRPr>
            </a:pPr>
            <a:r>
              <a:t>TITLE PAGE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>
                <a:latin typeface="Calibri"/>
              </a:defRPr>
            </a:pPr>
            <a:r>
              <a:rPr b="1" sz="1400">
                <a:solidFill>
                  <a:srgbClr val="000000"/>
                </a:solidFill>
              </a:rPr>
              <a:t>•  </a:t>
            </a:r>
            <a:r>
              <a:rPr b="1" sz="1400">
                <a:solidFill>
                  <a:srgbClr val="000000"/>
                </a:solidFill>
              </a:rPr>
              <a:t>Problem Statement ID - </a:t>
            </a:r>
            <a:r>
              <a:rPr i="1" sz="1400">
                <a:solidFill>
                  <a:srgbClr val="004C99"/>
                </a:solidFill>
              </a:rPr>
              <a:t>SIH26102</a:t>
            </a:r>
          </a:p>
          <a:p>
            <a:pPr>
              <a:spcAft>
                <a:spcPts val="1200"/>
              </a:spcAft>
              <a:defRPr>
                <a:latin typeface="Calibri"/>
              </a:defRPr>
            </a:pPr>
            <a:r>
              <a:rPr b="1" sz="1400">
                <a:solidFill>
                  <a:srgbClr val="000000"/>
                </a:solidFill>
              </a:rPr>
              <a:t>•  </a:t>
            </a:r>
            <a:r>
              <a:rPr b="1" sz="1400">
                <a:solidFill>
                  <a:srgbClr val="000000"/>
                </a:solidFill>
              </a:rPr>
              <a:t>Problem Statement Title  - </a:t>
            </a:r>
            <a:r>
              <a:rPr i="1" sz="1400">
                <a:solidFill>
                  <a:srgbClr val="004C99"/>
                </a:solidFill>
              </a:rPr>
              <a:t>AI-powered system to detect anomalies, fraud, and inefficiencies in MPLAD Scheme implementation regd.</a:t>
            </a:r>
          </a:p>
          <a:p>
            <a:pPr>
              <a:spcAft>
                <a:spcPts val="1200"/>
              </a:spcAft>
              <a:defRPr>
                <a:latin typeface="Calibri"/>
              </a:defRPr>
            </a:pPr>
            <a:r>
              <a:rPr b="1" sz="1400">
                <a:solidFill>
                  <a:srgbClr val="000000"/>
                </a:solidFill>
              </a:rPr>
              <a:t>•  </a:t>
            </a:r>
            <a:r>
              <a:rPr b="1" sz="1400">
                <a:solidFill>
                  <a:srgbClr val="000000"/>
                </a:solidFill>
              </a:rPr>
              <a:t>Theme  - </a:t>
            </a:r>
            <a:r>
              <a:rPr i="1" sz="1400">
                <a:solidFill>
                  <a:srgbClr val="004C99"/>
                </a:solidFill>
              </a:rPr>
              <a:t>Smart Governance, e-Governance and Smart Automation</a:t>
            </a:r>
          </a:p>
          <a:p>
            <a:pPr>
              <a:spcAft>
                <a:spcPts val="1200"/>
              </a:spcAft>
              <a:defRPr>
                <a:latin typeface="Calibri"/>
              </a:defRPr>
            </a:pPr>
            <a:r>
              <a:rPr b="1" sz="1400">
                <a:solidFill>
                  <a:srgbClr val="000000"/>
                </a:solidFill>
              </a:rPr>
              <a:t>•  </a:t>
            </a:r>
            <a:r>
              <a:rPr b="1" sz="1400">
                <a:solidFill>
                  <a:srgbClr val="000000"/>
                </a:solidFill>
              </a:rPr>
              <a:t>PS Category - </a:t>
            </a:r>
            <a:r>
              <a:rPr i="1" sz="1400">
                <a:solidFill>
                  <a:srgbClr val="004C99"/>
                </a:solidFill>
              </a:rPr>
              <a:t>Software</a:t>
            </a:r>
          </a:p>
          <a:p>
            <a:pPr>
              <a:spcAft>
                <a:spcPts val="1200"/>
              </a:spcAft>
              <a:defRPr>
                <a:latin typeface="Calibri"/>
              </a:defRPr>
            </a:pPr>
            <a:r>
              <a:rPr b="1" sz="1400">
                <a:solidFill>
                  <a:srgbClr val="000000"/>
                </a:solidFill>
              </a:rPr>
              <a:t>•  </a:t>
            </a:r>
            <a:r>
              <a:rPr b="1" sz="1400">
                <a:solidFill>
                  <a:srgbClr val="000000"/>
                </a:solidFill>
              </a:rPr>
              <a:t>Team ID – </a:t>
            </a:r>
            <a:r>
              <a:rPr i="1" sz="1400">
                <a:solidFill>
                  <a:srgbClr val="004C99"/>
                </a:solidFill>
              </a:rPr>
              <a:t>T049</a:t>
            </a:r>
          </a:p>
          <a:p>
            <a:pPr>
              <a:spcAft>
                <a:spcPts val="1200"/>
              </a:spcAft>
              <a:defRPr>
                <a:latin typeface="Calibri"/>
              </a:defRPr>
            </a:pPr>
            <a:r>
              <a:rPr b="1" sz="1400">
                <a:solidFill>
                  <a:srgbClr val="000000"/>
                </a:solidFill>
              </a:rPr>
              <a:t>•  </a:t>
            </a:r>
            <a:r>
              <a:rPr b="1" sz="1400">
                <a:solidFill>
                  <a:srgbClr val="000000"/>
                </a:solidFill>
              </a:rPr>
              <a:t>Team Name – </a:t>
            </a:r>
            <a:r>
              <a:rPr i="1" sz="1400">
                <a:solidFill>
                  <a:srgbClr val="004C99"/>
                </a:solidFill>
              </a:rPr>
              <a:t>Innova8</a:t>
            </a:r>
          </a:p>
        </p:txBody>
      </p:sp>
      <p:pic>
        <p:nvPicPr>
          <p:cNvPr id="8" name="Picture 7" descr="page_1_img_1_Image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7840" y="1645920"/>
            <a:ext cx="3017520" cy="34747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0" y="585216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00000"/>
                </a:solidFill>
                <a:latin typeface="Calibri"/>
              </a:defRPr>
            </a:pPr>
            <a:r>
              <a:t>Siddhant Sinha | 25070123109</a:t>
            </a:r>
          </a:p>
          <a:p>
            <a:pPr>
              <a:defRPr sz="1100">
                <a:solidFill>
                  <a:srgbClr val="000000"/>
                </a:solidFill>
                <a:latin typeface="Calibri"/>
              </a:defRPr>
            </a:pPr>
            <a:r>
              <a:t>Alisha Mittal | 25070126214</a:t>
            </a:r>
          </a:p>
          <a:p>
            <a:pPr>
              <a:defRPr sz="1100">
                <a:solidFill>
                  <a:srgbClr val="000000"/>
                </a:solidFill>
                <a:latin typeface="Calibri"/>
              </a:defRPr>
            </a:pPr>
            <a:r>
              <a:t>Nirvan Joneja | 25070126117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585216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00000"/>
                </a:solidFill>
                <a:latin typeface="Calibri"/>
              </a:defRPr>
            </a:pPr>
            <a:r>
              <a:t>Mannat Tanda | 25070126107</a:t>
            </a:r>
          </a:p>
          <a:p>
            <a:pPr>
              <a:defRPr sz="1100">
                <a:solidFill>
                  <a:srgbClr val="000000"/>
                </a:solidFill>
                <a:latin typeface="Calibri"/>
              </a:defRPr>
            </a:pPr>
            <a:r>
              <a:t>Kushal Shah | 25070126097</a:t>
            </a:r>
          </a:p>
          <a:p>
            <a:pPr>
              <a:defRPr sz="1100">
                <a:solidFill>
                  <a:srgbClr val="000000"/>
                </a:solidFill>
                <a:latin typeface="Calibri"/>
              </a:defRPr>
            </a:pPr>
            <a:r>
              <a:t>Karthik Prakash | 25070126088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ge_1_img_3_Image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20040"/>
            <a:ext cx="914400" cy="914400"/>
          </a:xfrm>
          <a:prstGeom prst="rect">
            <a:avLst/>
          </a:prstGeom>
        </p:spPr>
      </p:pic>
      <p:pic>
        <p:nvPicPr>
          <p:cNvPr id="4" name="Picture 3" descr="page_1_img_2_Image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320040"/>
            <a:ext cx="1645920" cy="822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71600" y="411480"/>
            <a:ext cx="6583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0000"/>
                </a:solidFill>
                <a:latin typeface="Times New Roman"/>
              </a:defRPr>
            </a:pPr>
            <a:r>
              <a:t>ADDRESSING THE ISSUE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223760"/>
            <a:ext cx="10058400" cy="548640"/>
          </a:xfrm>
          <a:prstGeom prst="rect">
            <a:avLst/>
          </a:prstGeom>
          <a:solidFill>
            <a:srgbClr val="006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72694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FFFFFF"/>
                </a:solidFill>
                <a:latin typeface="Calibri"/>
              </a:defRPr>
            </a:pPr>
            <a:r>
              <a:t>@SIH Idea submission- Template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726948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pic>
        <p:nvPicPr>
          <p:cNvPr id="9" name="Picture 8" descr="page_2_img_1_Image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1463040"/>
            <a:ext cx="9326880" cy="3246120"/>
          </a:xfrm>
          <a:prstGeom prst="rect">
            <a:avLst/>
          </a:prstGeom>
        </p:spPr>
      </p:pic>
      <p:pic>
        <p:nvPicPr>
          <p:cNvPr id="10" name="Picture 9" descr="page_2_img_2_Image2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4709160"/>
            <a:ext cx="9326880" cy="16916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ge_1_img_3_Image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20040"/>
            <a:ext cx="914400" cy="914400"/>
          </a:xfrm>
          <a:prstGeom prst="rect">
            <a:avLst/>
          </a:prstGeom>
        </p:spPr>
      </p:pic>
      <p:pic>
        <p:nvPicPr>
          <p:cNvPr id="4" name="Picture 3" descr="page_1_img_2_Image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320040"/>
            <a:ext cx="1645920" cy="822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71600" y="411480"/>
            <a:ext cx="6583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0000"/>
                </a:solidFill>
                <a:latin typeface="Times New Roman"/>
              </a:defRPr>
            </a:pPr>
            <a:r>
              <a:t>TECHNICAL APPROACH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223760"/>
            <a:ext cx="10058400" cy="548640"/>
          </a:xfrm>
          <a:prstGeom prst="rect">
            <a:avLst/>
          </a:prstGeom>
          <a:solidFill>
            <a:srgbClr val="006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72694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FFFFFF"/>
                </a:solidFill>
                <a:latin typeface="Calibri"/>
              </a:defRPr>
            </a:pPr>
            <a:r>
              <a:t>@SIH Idea submission- Template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726948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37160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0000"/>
                </a:solidFill>
                <a:latin typeface="Times New Roman"/>
              </a:defRPr>
            </a:pPr>
            <a:r>
              <a:t>TECHNICAL STACK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828800"/>
            <a:ext cx="4572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>
                <a:latin typeface="Calibri"/>
              </a:defRPr>
            </a:pPr>
            <a:r>
              <a:rPr b="1" sz="1050">
                <a:solidFill>
                  <a:srgbClr val="000000"/>
                </a:solidFill>
              </a:rPr>
              <a:t>•  </a:t>
            </a:r>
            <a:r>
              <a:rPr b="1" sz="1050">
                <a:solidFill>
                  <a:srgbClr val="000000"/>
                </a:solidFill>
              </a:rPr>
              <a:t>Frontend </a:t>
            </a:r>
            <a:r>
              <a:rPr sz="1050">
                <a:solidFill>
                  <a:srgbClr val="000000"/>
                </a:solidFill>
              </a:rPr>
              <a:t>— React.js, Tailwind, PWA officer dashboard</a:t>
            </a:r>
          </a:p>
          <a:p>
            <a:pPr>
              <a:spcAft>
                <a:spcPts val="500"/>
              </a:spcAft>
              <a:defRPr>
                <a:latin typeface="Calibri"/>
              </a:defRPr>
            </a:pPr>
            <a:r>
              <a:rPr b="1" sz="1050">
                <a:solidFill>
                  <a:srgbClr val="000000"/>
                </a:solidFill>
              </a:rPr>
              <a:t>•  </a:t>
            </a:r>
            <a:r>
              <a:rPr b="1" sz="1050">
                <a:solidFill>
                  <a:srgbClr val="000000"/>
                </a:solidFill>
              </a:rPr>
              <a:t>Backend/API </a:t>
            </a:r>
            <a:r>
              <a:rPr sz="1050">
                <a:solidFill>
                  <a:srgbClr val="000000"/>
                </a:solidFill>
              </a:rPr>
              <a:t>— FastAPI or Django REST, orchestrates the pipeline</a:t>
            </a:r>
          </a:p>
          <a:p>
            <a:pPr>
              <a:spcAft>
                <a:spcPts val="500"/>
              </a:spcAft>
              <a:defRPr>
                <a:latin typeface="Calibri"/>
              </a:defRPr>
            </a:pPr>
            <a:r>
              <a:rPr b="1" sz="1050">
                <a:solidFill>
                  <a:srgbClr val="000000"/>
                </a:solidFill>
              </a:rPr>
              <a:t>•  </a:t>
            </a:r>
            <a:r>
              <a:rPr b="1" sz="1050">
                <a:solidFill>
                  <a:srgbClr val="000000"/>
                </a:solidFill>
              </a:rPr>
              <a:t>OCR/NLP </a:t>
            </a:r>
            <a:r>
              <a:rPr sz="1050">
                <a:solidFill>
                  <a:srgbClr val="000000"/>
                </a:solidFill>
              </a:rPr>
              <a:t>— Tesseract/Vision API + HuggingFace NER</a:t>
            </a:r>
          </a:p>
          <a:p>
            <a:pPr>
              <a:spcAft>
                <a:spcPts val="500"/>
              </a:spcAft>
              <a:defRPr>
                <a:latin typeface="Calibri"/>
              </a:defRPr>
            </a:pPr>
            <a:r>
              <a:rPr b="1" sz="1050">
                <a:solidFill>
                  <a:srgbClr val="000000"/>
                </a:solidFill>
              </a:rPr>
              <a:t>•  </a:t>
            </a:r>
            <a:r>
              <a:rPr b="1" sz="1050">
                <a:solidFill>
                  <a:srgbClr val="000000"/>
                </a:solidFill>
              </a:rPr>
              <a:t>Forgery detection </a:t>
            </a:r>
            <a:r>
              <a:rPr sz="1050">
                <a:solidFill>
                  <a:srgbClr val="000000"/>
                </a:solidFill>
              </a:rPr>
              <a:t>— PyTorch CNN, ELA-based</a:t>
            </a:r>
          </a:p>
          <a:p>
            <a:pPr>
              <a:spcAft>
                <a:spcPts val="500"/>
              </a:spcAft>
              <a:defRPr>
                <a:latin typeface="Calibri"/>
              </a:defRPr>
            </a:pPr>
            <a:r>
              <a:rPr b="1" sz="1050">
                <a:solidFill>
                  <a:srgbClr val="000000"/>
                </a:solidFill>
              </a:rPr>
              <a:t>•  </a:t>
            </a:r>
            <a:r>
              <a:rPr b="1" sz="1050">
                <a:solidFill>
                  <a:srgbClr val="000000"/>
                </a:solidFill>
              </a:rPr>
              <a:t>Risk scoring </a:t>
            </a:r>
            <a:r>
              <a:rPr sz="1050">
                <a:solidFill>
                  <a:srgbClr val="000000"/>
                </a:solidFill>
              </a:rPr>
              <a:t>— XGBoost / scikit-learn</a:t>
            </a:r>
          </a:p>
          <a:p>
            <a:pPr>
              <a:spcAft>
                <a:spcPts val="500"/>
              </a:spcAft>
              <a:defRPr>
                <a:latin typeface="Calibri"/>
              </a:defRPr>
            </a:pPr>
            <a:r>
              <a:rPr b="1" sz="1050">
                <a:solidFill>
                  <a:srgbClr val="000000"/>
                </a:solidFill>
              </a:rPr>
              <a:t>•  </a:t>
            </a:r>
            <a:r>
              <a:rPr b="1" sz="1050">
                <a:solidFill>
                  <a:srgbClr val="000000"/>
                </a:solidFill>
              </a:rPr>
              <a:t>Entity matching </a:t>
            </a:r>
            <a:r>
              <a:rPr sz="1050">
                <a:solidFill>
                  <a:srgbClr val="000000"/>
                </a:solidFill>
              </a:rPr>
              <a:t>— Sentence-Transformers + FAISS</a:t>
            </a:r>
          </a:p>
          <a:p>
            <a:pPr>
              <a:spcAft>
                <a:spcPts val="500"/>
              </a:spcAft>
              <a:defRPr>
                <a:latin typeface="Calibri"/>
              </a:defRPr>
            </a:pPr>
            <a:r>
              <a:rPr b="1" sz="1050">
                <a:solidFill>
                  <a:srgbClr val="000000"/>
                </a:solidFill>
              </a:rPr>
              <a:t>•  </a:t>
            </a:r>
            <a:r>
              <a:rPr b="1" sz="1050">
                <a:solidFill>
                  <a:srgbClr val="000000"/>
                </a:solidFill>
              </a:rPr>
              <a:t>Explainability </a:t>
            </a:r>
            <a:r>
              <a:rPr sz="1050">
                <a:solidFill>
                  <a:srgbClr val="000000"/>
                </a:solidFill>
              </a:rPr>
              <a:t>— SHAP</a:t>
            </a:r>
          </a:p>
          <a:p>
            <a:pPr>
              <a:spcAft>
                <a:spcPts val="500"/>
              </a:spcAft>
              <a:defRPr>
                <a:latin typeface="Calibri"/>
              </a:defRPr>
            </a:pPr>
            <a:r>
              <a:rPr b="1" sz="1050">
                <a:solidFill>
                  <a:srgbClr val="000000"/>
                </a:solidFill>
              </a:rPr>
              <a:t>•  </a:t>
            </a:r>
            <a:r>
              <a:rPr b="1" sz="1050">
                <a:solidFill>
                  <a:srgbClr val="000000"/>
                </a:solidFill>
              </a:rPr>
              <a:t>MLOps </a:t>
            </a:r>
            <a:r>
              <a:rPr sz="1050">
                <a:solidFill>
                  <a:srgbClr val="000000"/>
                </a:solidFill>
              </a:rPr>
              <a:t>— MLflow, scheduled retraining</a:t>
            </a:r>
          </a:p>
          <a:p>
            <a:pPr>
              <a:spcAft>
                <a:spcPts val="500"/>
              </a:spcAft>
              <a:defRPr>
                <a:latin typeface="Calibri"/>
              </a:defRPr>
            </a:pPr>
            <a:r>
              <a:rPr b="1" sz="1050">
                <a:solidFill>
                  <a:srgbClr val="000000"/>
                </a:solidFill>
              </a:rPr>
              <a:t>•  </a:t>
            </a:r>
            <a:r>
              <a:rPr b="1" sz="1050">
                <a:solidFill>
                  <a:srgbClr val="000000"/>
                </a:solidFill>
              </a:rPr>
              <a:t>Data/Infra </a:t>
            </a:r>
            <a:r>
              <a:rPr sz="1050">
                <a:solidFill>
                  <a:srgbClr val="000000"/>
                </a:solidFill>
              </a:rPr>
              <a:t>— PostgreSQL, Docker/NGINX, gov cloud VM</a:t>
            </a:r>
          </a:p>
          <a:p>
            <a:pPr>
              <a:spcAft>
                <a:spcPts val="500"/>
              </a:spcAft>
              <a:defRPr>
                <a:latin typeface="Calibri"/>
              </a:defRPr>
            </a:pPr>
            <a:r>
              <a:rPr b="1" sz="1050">
                <a:solidFill>
                  <a:srgbClr val="000000"/>
                </a:solidFill>
              </a:rPr>
              <a:t>•  </a:t>
            </a:r>
            <a:r>
              <a:rPr b="1" sz="1050">
                <a:solidFill>
                  <a:srgbClr val="000000"/>
                </a:solidFill>
              </a:rPr>
              <a:t>Security </a:t>
            </a:r>
            <a:r>
              <a:rPr sz="1050">
                <a:solidFill>
                  <a:srgbClr val="000000"/>
                </a:solidFill>
              </a:rPr>
              <a:t>— JWT auth, AES-256 at rest, TLS 1.3 in transit</a:t>
            </a:r>
          </a:p>
        </p:txBody>
      </p:sp>
      <p:pic>
        <p:nvPicPr>
          <p:cNvPr id="11" name="Picture 10" descr="page_3_img_2_Image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1920240"/>
            <a:ext cx="48463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ge_1_img_3_Image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20040"/>
            <a:ext cx="914400" cy="914400"/>
          </a:xfrm>
          <a:prstGeom prst="rect">
            <a:avLst/>
          </a:prstGeom>
        </p:spPr>
      </p:pic>
      <p:pic>
        <p:nvPicPr>
          <p:cNvPr id="4" name="Picture 3" descr="page_1_img_2_Image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320040"/>
            <a:ext cx="1645920" cy="822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71600" y="411480"/>
            <a:ext cx="6583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0000"/>
                </a:solidFill>
                <a:latin typeface="Times New Roman"/>
              </a:defRPr>
            </a:pPr>
            <a:r>
              <a:t>FEASIBILITY AND VIABILITY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223760"/>
            <a:ext cx="10058400" cy="548640"/>
          </a:xfrm>
          <a:prstGeom prst="rect">
            <a:avLst/>
          </a:prstGeom>
          <a:solidFill>
            <a:srgbClr val="006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72694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FFFFFF"/>
                </a:solidFill>
                <a:latin typeface="Calibri"/>
              </a:defRPr>
            </a:pPr>
            <a:r>
              <a:t>@SIH Idea submission- Template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726948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pic>
        <p:nvPicPr>
          <p:cNvPr id="9" name="Picture 8" descr="page_4_img_2_Image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645920"/>
            <a:ext cx="3931920" cy="5029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0" y="1554480"/>
            <a:ext cx="51206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004C99"/>
                </a:solidFill>
                <a:latin typeface="Calibri"/>
              </a:defRPr>
            </a:pPr>
            <a:r>
              <a:t>Feasibility</a:t>
            </a:r>
          </a:p>
          <a:p>
            <a:pPr>
              <a:spcAft>
                <a:spcPts val="800"/>
              </a:spcAft>
              <a:defRPr>
                <a:latin typeface="Calibri"/>
              </a:defRPr>
            </a:pPr>
            <a:r>
              <a:rPr b="1" sz="1150">
                <a:solidFill>
                  <a:srgbClr val="000000"/>
                </a:solidFill>
              </a:rPr>
              <a:t>•  The technology is ready: </a:t>
            </a:r>
            <a:r>
              <a:rPr sz="1150">
                <a:solidFill>
                  <a:srgbClr val="000000"/>
                </a:solidFill>
              </a:rPr>
              <a:t>The AI tools needed to spot fraud and unusual patterns already exist and are widely used by banks today.</a:t>
            </a:r>
          </a:p>
          <a:p>
            <a:pPr>
              <a:spcAft>
                <a:spcPts val="1600"/>
              </a:spcAft>
              <a:defRPr>
                <a:latin typeface="Calibri"/>
              </a:defRPr>
            </a:pPr>
            <a:r>
              <a:rPr b="1" sz="1150">
                <a:solidFill>
                  <a:srgbClr val="000000"/>
                </a:solidFill>
              </a:rPr>
              <a:t>•  Getting good data is hard: </a:t>
            </a:r>
            <a:r>
              <a:rPr sz="1150">
                <a:solidFill>
                  <a:srgbClr val="000000"/>
                </a:solidFill>
              </a:rPr>
              <a:t>The AI is only as smart as the information it gets, so forcing all local government offices to upload clean, digital records will be a major challenge.</a:t>
            </a:r>
          </a:p>
          <a:p>
            <a:pPr>
              <a:spcAft>
                <a:spcPts val="400"/>
              </a:spcAft>
              <a:defRPr sz="1500" b="1">
                <a:solidFill>
                  <a:srgbClr val="004C99"/>
                </a:solidFill>
                <a:latin typeface="Calibri"/>
              </a:defRPr>
            </a:pPr>
            <a:r>
              <a:t>Viability</a:t>
            </a:r>
          </a:p>
          <a:p>
            <a:pPr>
              <a:spcAft>
                <a:spcPts val="800"/>
              </a:spcAft>
              <a:defRPr>
                <a:latin typeface="Calibri"/>
              </a:defRPr>
            </a:pPr>
            <a:r>
              <a:rPr b="1" sz="1150">
                <a:solidFill>
                  <a:srgbClr val="000000"/>
                </a:solidFill>
              </a:rPr>
              <a:t>•  It saves a lot of money: </a:t>
            </a:r>
            <a:r>
              <a:rPr sz="1150">
                <a:solidFill>
                  <a:srgbClr val="000000"/>
                </a:solidFill>
              </a:rPr>
              <a:t>The system will easily pay for itself by stopping wasted funds, fake projects, and contractor corruption.</a:t>
            </a:r>
          </a:p>
          <a:p>
            <a:pPr>
              <a:spcAft>
                <a:spcPts val="600"/>
              </a:spcAft>
              <a:defRPr>
                <a:latin typeface="Calibri"/>
              </a:defRPr>
            </a:pPr>
            <a:r>
              <a:rPr b="1" sz="1150">
                <a:solidFill>
                  <a:srgbClr val="000000"/>
                </a:solidFill>
              </a:rPr>
              <a:t>•  People will fight it: </a:t>
            </a:r>
            <a:r>
              <a:rPr sz="1150">
                <a:solidFill>
                  <a:srgbClr val="000000"/>
                </a:solidFill>
              </a:rPr>
              <a:t>Corrupt officials or dishonest contractors who make money off the current broken system will strongly resist using this AI.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ge_1_img_3_Image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20040"/>
            <a:ext cx="914400" cy="914400"/>
          </a:xfrm>
          <a:prstGeom prst="rect">
            <a:avLst/>
          </a:prstGeom>
        </p:spPr>
      </p:pic>
      <p:pic>
        <p:nvPicPr>
          <p:cNvPr id="4" name="Picture 3" descr="page_1_img_2_Image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320040"/>
            <a:ext cx="1645920" cy="822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71600" y="411480"/>
            <a:ext cx="6583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0000"/>
                </a:solidFill>
                <a:latin typeface="Times New Roman"/>
              </a:defRPr>
            </a:pPr>
            <a:r>
              <a:t>IMPACT AND BENEFITS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223760"/>
            <a:ext cx="10058400" cy="548640"/>
          </a:xfrm>
          <a:prstGeom prst="rect">
            <a:avLst/>
          </a:prstGeom>
          <a:solidFill>
            <a:srgbClr val="006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72694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FFFFFF"/>
                </a:solidFill>
                <a:latin typeface="Calibri"/>
              </a:defRPr>
            </a:pPr>
            <a:r>
              <a:t>@SIH Idea submission- Template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726948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45920"/>
            <a:ext cx="51206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>
                <a:latin typeface="Calibri"/>
              </a:defRPr>
            </a:pPr>
            <a:r>
              <a:rPr b="1" sz="1200">
                <a:solidFill>
                  <a:srgbClr val="000000"/>
                </a:solidFill>
              </a:rPr>
              <a:t>•  </a:t>
            </a:r>
            <a:r>
              <a:rPr b="1" sz="1200">
                <a:solidFill>
                  <a:srgbClr val="000000"/>
                </a:solidFill>
              </a:rPr>
              <a:t>10x Faster Clearances:
   </a:t>
            </a:r>
            <a:r>
              <a:rPr sz="1150">
                <a:solidFill>
                  <a:srgbClr val="000000"/>
                </a:solidFill>
              </a:rPr>
              <a:t>Auto-approves low-risk projects in under 48 hours instead of taking 15–30 days.</a:t>
            </a:r>
          </a:p>
          <a:p>
            <a:pPr>
              <a:spcAft>
                <a:spcPts val="1000"/>
              </a:spcAft>
              <a:defRPr>
                <a:latin typeface="Calibri"/>
              </a:defRPr>
            </a:pPr>
            <a:r>
              <a:rPr b="1" sz="1200">
                <a:solidFill>
                  <a:srgbClr val="000000"/>
                </a:solidFill>
              </a:rPr>
              <a:t>•  </a:t>
            </a:r>
            <a:r>
              <a:rPr b="1" sz="1200">
                <a:solidFill>
                  <a:srgbClr val="000000"/>
                </a:solidFill>
              </a:rPr>
              <a:t>Targeted Officer Review:
   </a:t>
            </a:r>
            <a:r>
              <a:rPr sz="1150">
                <a:solidFill>
                  <a:srgbClr val="000000"/>
                </a:solidFill>
              </a:rPr>
              <a:t>Uses risk scoring so officials only spend 3–5 minutes reviewing high-risk files.</a:t>
            </a:r>
          </a:p>
          <a:p>
            <a:pPr>
              <a:spcAft>
                <a:spcPts val="1000"/>
              </a:spcAft>
              <a:defRPr>
                <a:latin typeface="Calibri"/>
              </a:defRPr>
            </a:pPr>
            <a:r>
              <a:rPr b="1" sz="1200">
                <a:solidFill>
                  <a:srgbClr val="000000"/>
                </a:solidFill>
              </a:rPr>
              <a:t>•  </a:t>
            </a:r>
            <a:r>
              <a:rPr b="1" sz="1200">
                <a:solidFill>
                  <a:srgbClr val="000000"/>
                </a:solidFill>
              </a:rPr>
              <a:t>Total Forgery Detection:
   </a:t>
            </a:r>
            <a:r>
              <a:rPr sz="1150">
                <a:solidFill>
                  <a:srgbClr val="000000"/>
                </a:solidFill>
              </a:rPr>
              <a:t>Scans every single bill and certificate for tampering, leaving no blind spots.</a:t>
            </a:r>
          </a:p>
          <a:p>
            <a:pPr>
              <a:spcAft>
                <a:spcPts val="1000"/>
              </a:spcAft>
              <a:defRPr>
                <a:latin typeface="Calibri"/>
              </a:defRPr>
            </a:pPr>
            <a:r>
              <a:rPr b="1" sz="1200">
                <a:solidFill>
                  <a:srgbClr val="000000"/>
                </a:solidFill>
              </a:rPr>
              <a:t>•  </a:t>
            </a:r>
            <a:r>
              <a:rPr b="1" sz="1200">
                <a:solidFill>
                  <a:srgbClr val="000000"/>
                </a:solidFill>
              </a:rPr>
              <a:t>Prevents Duplicate Funding:
   </a:t>
            </a:r>
            <a:r>
              <a:rPr sz="1150">
                <a:solidFill>
                  <a:srgbClr val="000000"/>
                </a:solidFill>
              </a:rPr>
              <a:t>Cross-checks department data to stop the same work from being billed under multiple schemes.</a:t>
            </a:r>
          </a:p>
          <a:p>
            <a:pPr>
              <a:spcAft>
                <a:spcPts val="1000"/>
              </a:spcAft>
              <a:defRPr>
                <a:latin typeface="Calibri"/>
              </a:defRPr>
            </a:pPr>
            <a:r>
              <a:rPr b="1" sz="1200">
                <a:solidFill>
                  <a:srgbClr val="000000"/>
                </a:solidFill>
              </a:rPr>
              <a:t>•  </a:t>
            </a:r>
            <a:r>
              <a:rPr b="1" sz="1200">
                <a:solidFill>
                  <a:srgbClr val="000000"/>
                </a:solidFill>
              </a:rPr>
              <a:t>Continuous Learning:
   </a:t>
            </a:r>
            <a:r>
              <a:rPr sz="1150">
                <a:solidFill>
                  <a:srgbClr val="000000"/>
                </a:solidFill>
              </a:rPr>
              <a:t>Updates automatically from officer feedback to catch new fraud patterns.</a:t>
            </a:r>
          </a:p>
        </p:txBody>
      </p:sp>
      <p:pic>
        <p:nvPicPr>
          <p:cNvPr id="10" name="Picture 9" descr="page_5_img_2_Image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0" y="1828800"/>
            <a:ext cx="393192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ge_1_img_3_Image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20040"/>
            <a:ext cx="914400" cy="914400"/>
          </a:xfrm>
          <a:prstGeom prst="rect">
            <a:avLst/>
          </a:prstGeom>
        </p:spPr>
      </p:pic>
      <p:pic>
        <p:nvPicPr>
          <p:cNvPr id="4" name="Picture 3" descr="page_1_img_2_Image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320040"/>
            <a:ext cx="1645920" cy="822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71600" y="411480"/>
            <a:ext cx="6583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0000"/>
                </a:solidFill>
                <a:latin typeface="Times New Roman"/>
              </a:defRPr>
            </a:pPr>
            <a:r>
              <a:t>RESEARCH AND REFERENCES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223760"/>
            <a:ext cx="10058400" cy="548640"/>
          </a:xfrm>
          <a:prstGeom prst="rect">
            <a:avLst/>
          </a:prstGeom>
          <a:solidFill>
            <a:srgbClr val="006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72694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FFFFFF"/>
                </a:solidFill>
                <a:latin typeface="Calibri"/>
              </a:defRPr>
            </a:pPr>
            <a:r>
              <a:t>@SIH Idea submission- Template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726948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45920"/>
            <a:ext cx="47548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 u="sng">
                <a:solidFill>
                  <a:srgbClr val="004C99"/>
                </a:solidFill>
                <a:latin typeface="Calibri"/>
              </a:defRPr>
            </a:pPr>
            <a:r>
              <a:t>Policy &amp; government frameworks (2 sources)</a:t>
            </a:r>
          </a:p>
          <a:p>
            <a:pPr>
              <a:spcAft>
                <a:spcPts val="500"/>
              </a:spcAft>
              <a:defRPr>
                <a:latin typeface="Calibri"/>
              </a:defRPr>
            </a:pPr>
            <a:r>
              <a:rPr b="1" sz="1150">
                <a:solidFill>
                  <a:srgbClr val="000000"/>
                </a:solidFill>
              </a:rPr>
              <a:t>•  </a:t>
            </a:r>
            <a:r>
              <a:rPr sz="1150">
                <a:solidFill>
                  <a:srgbClr val="000000"/>
                </a:solidFill>
              </a:rPr>
              <a:t>Right to Public Services (RTS) Act — turnaround benchmarks</a:t>
            </a:r>
          </a:p>
          <a:p>
            <a:pPr>
              <a:spcAft>
                <a:spcPts val="500"/>
              </a:spcAft>
              <a:defRPr>
                <a:latin typeface="Calibri"/>
              </a:defRPr>
            </a:pPr>
            <a:r>
              <a:rPr b="1" sz="1150">
                <a:solidFill>
                  <a:srgbClr val="000000"/>
                </a:solidFill>
              </a:rPr>
              <a:t>•  </a:t>
            </a:r>
            <a:r>
              <a:rPr sz="1150">
                <a:solidFill>
                  <a:srgbClr val="000000"/>
                </a:solidFill>
              </a:rPr>
              <a:t>MeitY Digital India / e-Governance AI adoption guidelines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300" b="1" u="sng">
                <a:solidFill>
                  <a:srgbClr val="004C99"/>
                </a:solidFill>
                <a:latin typeface="Calibri"/>
              </a:defRPr>
            </a:pPr>
            <a:r>
              <a:t>Technical research (2 sources)</a:t>
            </a:r>
          </a:p>
          <a:p>
            <a:pPr>
              <a:spcAft>
                <a:spcPts val="500"/>
              </a:spcAft>
              <a:defRPr>
                <a:latin typeface="Calibri"/>
              </a:defRPr>
            </a:pPr>
            <a:r>
              <a:rPr b="1" sz="1150">
                <a:solidFill>
                  <a:srgbClr val="000000"/>
                </a:solidFill>
              </a:rPr>
              <a:t>•  </a:t>
            </a:r>
            <a:r>
              <a:rPr sz="1150">
                <a:solidFill>
                  <a:srgbClr val="000000"/>
                </a:solidFill>
              </a:rPr>
              <a:t>CNN-based document forgery detection (ELA methods)</a:t>
            </a:r>
          </a:p>
          <a:p>
            <a:pPr>
              <a:spcAft>
                <a:spcPts val="500"/>
              </a:spcAft>
              <a:defRPr>
                <a:latin typeface="Calibri"/>
              </a:defRPr>
            </a:pPr>
            <a:r>
              <a:rPr b="1" sz="1150">
                <a:solidFill>
                  <a:srgbClr val="000000"/>
                </a:solidFill>
              </a:rPr>
              <a:t>•  </a:t>
            </a:r>
            <a:r>
              <a:rPr sz="1150">
                <a:solidFill>
                  <a:srgbClr val="000000"/>
                </a:solidFill>
              </a:rPr>
              <a:t>SHAP — SHapley Additive exPlanations, explainability framework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1645920"/>
            <a:ext cx="4389120" cy="365760"/>
          </a:xfrm>
          <a:prstGeom prst="rect">
            <a:avLst/>
          </a:prstGeom>
          <a:solidFill>
            <a:srgbClr val="006680"/>
          </a:solidFill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Calibri"/>
              </a:defRPr>
            </a:pPr>
            <a:r>
              <a:t>END TO END WORKFLOW</a:t>
            </a:r>
          </a:p>
        </p:txBody>
      </p:sp>
      <p:pic>
        <p:nvPicPr>
          <p:cNvPr id="11" name="Picture 10" descr="page_6_img_2_Image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2080" y="2194560"/>
            <a:ext cx="4480560" cy="43891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