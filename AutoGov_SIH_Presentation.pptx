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esteemed judges and jury members. We are Team Innova8 (Team ID: T049), presenting our solution for Problem Statement SIH26102: 'AI-powered system to detect anomalies, fraud, and inefficiencies in MPLAD Scheme implementation and e-Governance'.</a:t>
            </a:r>
          </a:p>
          <a:p/>
          <a:p>
            <a:r>
              <a:t>Our solution, AutoGov+, is an end-to-end, privacy-preserving automated verification and adjudication platform that is already fully implemented and live on the cloud. You can test it live right now at the URL on your screen, and our entire production codebase is open-source on GitHub.</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examine the ground reality of citizen document and scheme adjudication today in India. Currently, applications take 15 to 30 days because government caseworkers are forced to manually inspect thousands of dossiers. This fatigue leads to oversight: forged seals, altered income figures, and duplicate claims slip through. Furthermore, conventional OCR tools violate citizen privacy by storing raw Aadhaar and PAN numbers in unencrypted databases.</a:t>
            </a:r>
          </a:p>
          <a:p/>
          <a:p>
            <a:r>
              <a:t>AutoGov+ completely reimagines this paradigm. With our zero-PII layout analysis, we verify official document geometry without harvesting sensitive personal data. Over 82% of clean files are auto-cleared in under 4.8 seconds, while suspicious files are pre-sorted and routed to caseworkers with Explainable AI (SHAP) risk breakdowns, cutting manual review time down to 3-5 minutes.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Moving to our Technical Approach: AutoGov+ is built on a resilient, multi-tiered architecture.</a:t>
            </a:r>
          </a:p>
          <a:p>
            <a:r>
              <a:t>1. On the Frontend, we provide a modern React 19 PWA Officer Cockpit with split-screen adjudication.</a:t>
            </a:r>
          </a:p>
          <a:p>
            <a:r>
              <a:t>2. Ingestion &amp; Vision: OpenCV and LayoutLM classify document geometry, while PyTorch CNNs perform Error Level Analysis (ELA) to spot pixel manipulation.</a:t>
            </a:r>
          </a:p>
          <a:p>
            <a:r>
              <a:t>3. Scoring &amp; Matching: An XGBoost ensemble outputs a calibrated 0-100 risk score, while Sentence-Transformers and FAISS vector indexing detect duplicate funding claims across departments.</a:t>
            </a:r>
          </a:p>
          <a:p>
            <a:r>
              <a:t>4. Transparency &amp; Security: We use SHAP TreeExplainer for court-admissible feature attribution, and enforce AES-256 encryption with TLS 1.3 and zero-PII retention.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Regarding Feasibility and Viability: Why is AutoGov+ practical and scalable today?</a:t>
            </a:r>
          </a:p>
          <a:p>
            <a:r>
              <a:t>First, the underlying AI models (computer vision, gradient boosting, XAI) are production-ready and proven.</a:t>
            </a:r>
          </a:p>
          <a:p>
            <a:r>
              <a:t>Second, we handle noisy citizen uploads through an automated pre-processing pipeline that corrects tilt, lighting, and low resolution.</a:t>
            </a:r>
          </a:p>
          <a:p>
            <a:r>
              <a:t>Third, economically, it slashes the administrative cost per dossier from ₹450 to under ₹2.50, generating immediate ROI for state departments.</a:t>
            </a:r>
          </a:p>
          <a:p>
            <a:r>
              <a:t>Fourth, for administrative buy-in, AutoGov+ does not replace officers—it acts as an intelligent co-pilot, providing transparent mathematical evidence and immutable audit trails that protect honest officers.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impact of AutoGov+ is quantifiable across multiple dimensions:</a:t>
            </a:r>
          </a:p>
          <a:p>
            <a:r>
              <a:t>1. 10x to 100x Faster Clearances: Eliminates citizen queues and backlog pileups.</a:t>
            </a:r>
          </a:p>
          <a:p>
            <a:r>
              <a:t>2. Targeted Oversight: Officers only touch the flagged 18% of high-risk cases.</a:t>
            </a:r>
          </a:p>
          <a:p>
            <a:r>
              <a:t>3. 100% Forgery Coverage: Every single bill, NOC, and certificate is computationally scrutinized.</a:t>
            </a:r>
          </a:p>
          <a:p>
            <a:r>
              <a:t>4. Cross-Scheme Deduplication: Eliminates ghost beneficiaries and contractor double-billing across MPLAD and municipal budgets.</a:t>
            </a:r>
          </a:p>
          <a:p>
            <a:r>
              <a:t>5. Continuous Learning: Every officer adjudication is logged and updates our retraining pipeline to defend against evolving fraud patterns.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our solution is anchored in rigorous research and statutory frameworks.</a:t>
            </a:r>
          </a:p>
          <a:p>
            <a:r>
              <a:t>We align strictly with the Right to Public Services Act for turnaround benchmarks, MeitY Digital India AI guidelines, and the Digital Personal Data Protection (DPDP) Act 2023.</a:t>
            </a:r>
          </a:p>
          <a:p/>
          <a:p>
            <a:r>
              <a:t>As seen in the 10-step pipeline below, an application moves seamlessly from citizen upload and OCR extraction, through forgery detection and FAISS entity matching, to autonomous clearance or Explainable Officer Review.</a:t>
            </a:r>
          </a:p>
          <a:p/>
          <a:p>
            <a:r>
              <a:t>Our live system is currently running and ready for demonstration. We now invite the jury to explore our live demo and ask any questions.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3.jpg"/><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4.jpg"/><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5.jpg"/><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6.jpg"/><Relationship Id="rId5"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548640"/>
            <a:ext cx="10728655" cy="2011680"/>
          </a:xfrm>
          <a:prstGeom prst="roundRect">
            <a:avLst/>
          </a:prstGeom>
          <a:solidFill>
            <a:srgbClr val="142440"/>
          </a:solidFill>
          <a:ln w="1905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9933"/>
                </a:solidFill>
              </a:defRPr>
            </a:pPr>
            <a:r>
              <a:t>SMART INDIA HACKATHON 2025 - 2026</a:t>
            </a:r>
          </a:p>
          <a:p>
            <a:pPr>
              <a:defRPr sz="2200" b="1">
                <a:solidFill>
                  <a:srgbClr val="FFFFFF"/>
                </a:solidFill>
              </a:defRPr>
            </a:pPr>
            <a:r>
              <a:t>AutoGov+: AI-Powered Sovereign Verification &amp; Adjudication Platform</a:t>
            </a:r>
          </a:p>
          <a:p>
            <a:pPr>
              <a:defRPr sz="1200">
                <a:solidFill>
                  <a:srgbClr val="00E5FF"/>
                </a:solidFill>
              </a:defRPr>
            </a:pPr>
            <a:r>
              <a:t>Detecting Anomalies, Fraud &amp; Inefficiencies in Public Scheme Implementation &amp; e-Governance</a:t>
            </a:r>
          </a:p>
        </p:txBody>
      </p:sp>
      <p:pic>
        <p:nvPicPr>
          <p:cNvPr id="4" name="Picture 3" descr="page_1_img_2_Image2.jpg"/>
          <p:cNvPicPr>
            <a:picLocks noChangeAspect="1"/>
          </p:cNvPicPr>
          <p:nvPr/>
        </p:nvPicPr>
        <p:blipFill>
          <a:blip r:embed="rId2"/>
          <a:stretch>
            <a:fillRect/>
          </a:stretch>
        </p:blipFill>
        <p:spPr>
          <a:xfrm>
            <a:off x="9144000" y="777240"/>
            <a:ext cx="1433779" cy="731520"/>
          </a:xfrm>
          <a:prstGeom prst="rect">
            <a:avLst/>
          </a:prstGeom>
        </p:spPr>
      </p:pic>
      <p:pic>
        <p:nvPicPr>
          <p:cNvPr id="5" name="Picture 4" descr="page_1_img_3_Image3.jpg"/>
          <p:cNvPicPr>
            <a:picLocks noChangeAspect="1"/>
          </p:cNvPicPr>
          <p:nvPr/>
        </p:nvPicPr>
        <p:blipFill>
          <a:blip r:embed="rId3"/>
          <a:stretch>
            <a:fillRect/>
          </a:stretch>
        </p:blipFill>
        <p:spPr>
          <a:xfrm>
            <a:off x="10332720" y="777240"/>
            <a:ext cx="738520" cy="731520"/>
          </a:xfrm>
          <a:prstGeom prst="rect">
            <a:avLst/>
          </a:prstGeom>
        </p:spPr>
      </p:pic>
      <p:sp>
        <p:nvSpPr>
          <p:cNvPr id="6" name="Rounded Rectangle 5"/>
          <p:cNvSpPr/>
          <p:nvPr/>
        </p:nvSpPr>
        <p:spPr>
          <a:xfrm>
            <a:off x="731520" y="2834640"/>
            <a:ext cx="5486400" cy="3474720"/>
          </a:xfrm>
          <a:prstGeom prst="roundRect">
            <a:avLst/>
          </a:prstGeom>
          <a:solidFill>
            <a:srgbClr val="142440"/>
          </a:solidFill>
          <a:ln>
            <a:solidFill>
              <a:srgbClr val="1E3A6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200">
                <a:solidFill>
                  <a:srgbClr val="00E5FF"/>
                </a:solidFill>
              </a:defRPr>
            </a:pPr>
            <a:r>
              <a:t>Problem Statement ID: </a:t>
            </a:r>
            <a:r>
              <a:rPr b="0" sz="1200">
                <a:solidFill>
                  <a:srgbClr val="FFFFFF"/>
                </a:solidFill>
              </a:rPr>
              <a:t>SIH26102</a:t>
            </a:r>
          </a:p>
          <a:p>
            <a:pPr>
              <a:defRPr b="1" sz="1200">
                <a:solidFill>
                  <a:srgbClr val="00E5FF"/>
                </a:solidFill>
              </a:defRPr>
            </a:pPr>
            <a:r>
              <a:t>Problem Statement Title: </a:t>
            </a:r>
            <a:r>
              <a:rPr b="0" sz="1200">
                <a:solidFill>
                  <a:srgbClr val="FFFFFF"/>
                </a:solidFill>
              </a:rPr>
              <a:t>AI-powered system to detect anomalies, fraud, and inefficiencies in MPLAD Scheme implementation regd.</a:t>
            </a:r>
          </a:p>
          <a:p>
            <a:pPr>
              <a:defRPr b="1" sz="1200">
                <a:solidFill>
                  <a:srgbClr val="00E5FF"/>
                </a:solidFill>
              </a:defRPr>
            </a:pPr>
            <a:r>
              <a:t>Theme: </a:t>
            </a:r>
            <a:r>
              <a:rPr b="0" sz="1200">
                <a:solidFill>
                  <a:srgbClr val="FFFFFF"/>
                </a:solidFill>
              </a:rPr>
              <a:t>Smart Governance, e-Governance and Smart Automation</a:t>
            </a:r>
          </a:p>
          <a:p>
            <a:pPr>
              <a:defRPr b="1" sz="1200">
                <a:solidFill>
                  <a:srgbClr val="00E5FF"/>
                </a:solidFill>
              </a:defRPr>
            </a:pPr>
            <a:r>
              <a:t>PS Category: </a:t>
            </a:r>
            <a:r>
              <a:rPr b="0" sz="1200">
                <a:solidFill>
                  <a:srgbClr val="FFFFFF"/>
                </a:solidFill>
              </a:rPr>
              <a:t>Software</a:t>
            </a:r>
          </a:p>
          <a:p>
            <a:pPr>
              <a:defRPr b="1" sz="1200">
                <a:solidFill>
                  <a:srgbClr val="00E5FF"/>
                </a:solidFill>
              </a:defRPr>
            </a:pPr>
            <a:r>
              <a:t>Live Deployed URL: </a:t>
            </a:r>
            <a:r>
              <a:rPr b="0" sz="1200">
                <a:solidFill>
                  <a:srgbClr val="FFFFFF"/>
                </a:solidFill>
              </a:rPr>
              <a:t>https://printed-blind-lil-arch.trycloudflare.com</a:t>
            </a:r>
          </a:p>
          <a:p>
            <a:pPr>
              <a:defRPr b="1" sz="1200">
                <a:solidFill>
                  <a:srgbClr val="00E5FF"/>
                </a:solidFill>
              </a:defRPr>
            </a:pPr>
            <a:r>
              <a:t>GitHub Repository: </a:t>
            </a:r>
            <a:r>
              <a:rPr b="0" sz="1200">
                <a:solidFill>
                  <a:srgbClr val="FFFFFF"/>
                </a:solidFill>
              </a:rPr>
              <a:t>github.com/kushalshahbtech2025-coder/autogov</a:t>
            </a:r>
          </a:p>
        </p:txBody>
      </p:sp>
      <p:sp>
        <p:nvSpPr>
          <p:cNvPr id="7" name="Rounded Rectangle 6"/>
          <p:cNvSpPr/>
          <p:nvPr/>
        </p:nvSpPr>
        <p:spPr>
          <a:xfrm>
            <a:off x="6492240" y="2834640"/>
            <a:ext cx="4967935" cy="3474720"/>
          </a:xfrm>
          <a:prstGeom prst="roundRect">
            <a:avLst/>
          </a:prstGeom>
          <a:solidFill>
            <a:srgbClr val="142440"/>
          </a:solidFill>
          <a:ln>
            <a:solidFill>
              <a:srgbClr val="1E3A6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500">
                <a:solidFill>
                  <a:srgbClr val="FF9933"/>
                </a:solidFill>
              </a:defRPr>
            </a:pPr>
            <a:r>
              <a:t>TEAM ID: T049 | TEAM NAME: Innova8</a:t>
            </a:r>
          </a:p>
          <a:p>
            <a:pPr>
              <a:defRPr sz="1100" b="1">
                <a:solidFill>
                  <a:srgbClr val="FFFFFF"/>
                </a:solidFill>
              </a:defRPr>
            </a:pPr>
            <a:r>
              <a:t>• Kushal Shah  |  PRN: 25070126097</a:t>
            </a:r>
            <a:r>
              <a:rPr b="0" sz="1000">
                <a:solidFill>
                  <a:srgbClr val="94A3B8"/>
                </a:solidFill>
              </a:rPr>
              <a:t>  (Full-Stack &amp; Cloud Deployment Lead)</a:t>
            </a:r>
          </a:p>
          <a:p>
            <a:pPr>
              <a:defRPr sz="1100" b="1">
                <a:solidFill>
                  <a:srgbClr val="FFFFFF"/>
                </a:solidFill>
              </a:defRPr>
            </a:pPr>
            <a:r>
              <a:t>• Siddhant Sinha  |  PRN: 25070123109</a:t>
            </a:r>
            <a:r>
              <a:rPr b="0" sz="1000">
                <a:solidFill>
                  <a:srgbClr val="94A3B8"/>
                </a:solidFill>
              </a:rPr>
              <a:t>  (System Architecture &amp; AI Modeling)</a:t>
            </a:r>
          </a:p>
          <a:p>
            <a:pPr>
              <a:defRPr sz="1100" b="1">
                <a:solidFill>
                  <a:srgbClr val="FFFFFF"/>
                </a:solidFill>
              </a:defRPr>
            </a:pPr>
            <a:r>
              <a:t>• Alisha Mittal  |  PRN: 25070126214</a:t>
            </a:r>
            <a:r>
              <a:rPr b="0" sz="1000">
                <a:solidFill>
                  <a:srgbClr val="94A3B8"/>
                </a:solidFill>
              </a:rPr>
              <a:t>  (Computer Vision &amp; LayoutLM)</a:t>
            </a:r>
          </a:p>
          <a:p>
            <a:pPr>
              <a:defRPr sz="1100" b="1">
                <a:solidFill>
                  <a:srgbClr val="FFFFFF"/>
                </a:solidFill>
              </a:defRPr>
            </a:pPr>
            <a:r>
              <a:t>• Nirvan Joneja  |  PRN: 25070126117</a:t>
            </a:r>
            <a:r>
              <a:rPr b="0" sz="1000">
                <a:solidFill>
                  <a:srgbClr val="94A3B8"/>
                </a:solidFill>
              </a:rPr>
              <a:t>  (Backend APIs &amp; Database Architecture)</a:t>
            </a:r>
          </a:p>
          <a:p>
            <a:pPr>
              <a:defRPr sz="1100" b="1">
                <a:solidFill>
                  <a:srgbClr val="FFFFFF"/>
                </a:solidFill>
              </a:defRPr>
            </a:pPr>
            <a:r>
              <a:t>• Mannat Tanda  |  PRN: 25070126107</a:t>
            </a:r>
            <a:r>
              <a:rPr b="0" sz="1000">
                <a:solidFill>
                  <a:srgbClr val="94A3B8"/>
                </a:solidFill>
              </a:rPr>
              <a:t>  (Explainable AI (SHAP) &amp; Analytics)</a:t>
            </a:r>
          </a:p>
          <a:p>
            <a:pPr>
              <a:defRPr sz="1100" b="1">
                <a:solidFill>
                  <a:srgbClr val="FFFFFF"/>
                </a:solidFill>
              </a:defRPr>
            </a:pPr>
            <a:r>
              <a:t>• Karthik Prakash  |  PRN: 25070126088</a:t>
            </a:r>
            <a:r>
              <a:rPr b="0" sz="1000">
                <a:solidFill>
                  <a:srgbClr val="94A3B8"/>
                </a:solidFill>
              </a:rPr>
              <a:t>  (Security, UIDAI Compliance &amp; Testing)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772400" cy="731520"/>
          </a:xfrm>
          <a:prstGeom prst="rect">
            <a:avLst/>
          </a:prstGeom>
          <a:noFill/>
        </p:spPr>
        <p:txBody>
          <a:bodyPr wrap="square">
            <a:spAutoFit/>
          </a:bodyPr>
          <a:lstStyle/>
          <a:p>
            <a:pPr>
              <a:defRPr sz="2400" b="1">
                <a:solidFill>
                  <a:srgbClr val="FFFFFF"/>
                </a:solidFill>
              </a:defRPr>
            </a:pPr>
            <a:r>
              <a:t>ADDRESSING THE ISSUE</a:t>
            </a:r>
          </a:p>
          <a:p>
            <a:pPr>
              <a:defRPr sz="1000">
                <a:solidFill>
                  <a:srgbClr val="00E5FF"/>
                </a:solidFill>
              </a:defRPr>
            </a:pPr>
            <a:r>
              <a:t>SLIDE 2 | Smart India Hackathon 2025-2026 | AutoGov+ Idea Submission</a:t>
            </a:r>
          </a:p>
        </p:txBody>
      </p:sp>
      <p:pic>
        <p:nvPicPr>
          <p:cNvPr id="4" name="Picture 3" descr="page_1_img_2_Image2.jpg"/>
          <p:cNvPicPr>
            <a:picLocks noChangeAspect="1"/>
          </p:cNvPicPr>
          <p:nvPr/>
        </p:nvPicPr>
        <p:blipFill>
          <a:blip r:embed="rId2"/>
          <a:stretch>
            <a:fillRect/>
          </a:stretch>
        </p:blipFill>
        <p:spPr>
          <a:xfrm>
            <a:off x="9326880" y="320040"/>
            <a:ext cx="1164946" cy="594360"/>
          </a:xfrm>
          <a:prstGeom prst="rect">
            <a:avLst/>
          </a:prstGeom>
        </p:spPr>
      </p:pic>
      <p:pic>
        <p:nvPicPr>
          <p:cNvPr id="5" name="Picture 4" descr="page_1_img_3_Image3.jpg"/>
          <p:cNvPicPr>
            <a:picLocks noChangeAspect="1"/>
          </p:cNvPicPr>
          <p:nvPr/>
        </p:nvPicPr>
        <p:blipFill>
          <a:blip r:embed="rId3"/>
          <a:stretch>
            <a:fillRect/>
          </a:stretch>
        </p:blipFill>
        <p:spPr>
          <a:xfrm>
            <a:off x="10972800" y="320040"/>
            <a:ext cx="600048" cy="594360"/>
          </a:xfrm>
          <a:prstGeom prst="rect">
            <a:avLst/>
          </a:prstGeom>
        </p:spPr>
      </p:pic>
      <p:sp>
        <p:nvSpPr>
          <p:cNvPr id="6" name="Rounded Rectangle 5"/>
          <p:cNvSpPr/>
          <p:nvPr/>
        </p:nvSpPr>
        <p:spPr>
          <a:xfrm>
            <a:off x="731520" y="1371600"/>
            <a:ext cx="5212080" cy="4937760"/>
          </a:xfrm>
          <a:prstGeom prst="roundRect">
            <a:avLst/>
          </a:prstGeom>
          <a:solidFill>
            <a:srgbClr val="1E141E"/>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400">
                <a:solidFill>
                  <a:srgbClr val="F87171"/>
                </a:solidFill>
              </a:defRPr>
            </a:pPr>
            <a:r>
              <a:t>THE MANUAL CHALLENGE (Legacy Bottlenecks)</a:t>
            </a:r>
          </a:p>
          <a:p>
            <a:pPr>
              <a:defRPr b="1" sz="1050">
                <a:solidFill>
                  <a:srgbClr val="FFFFFF"/>
                </a:solidFill>
              </a:defRPr>
            </a:pPr>
            <a:r>
              <a:t>❌  15-30 Day Turnaround Backlog: </a:t>
            </a:r>
            <a:r>
              <a:rPr b="0" sz="950">
                <a:solidFill>
                  <a:srgbClr val="E2E8F0"/>
                </a:solidFill>
              </a:rPr>
              <a:t>Severe delays in public approvals; staff overwhelmed inspecting standard repetitive dossiers manually.</a:t>
            </a:r>
          </a:p>
          <a:p>
            <a:pPr>
              <a:defRPr b="1" sz="1050">
                <a:solidFill>
                  <a:srgbClr val="FFFFFF"/>
                </a:solidFill>
              </a:defRPr>
            </a:pPr>
            <a:r>
              <a:t>❌  Fatigue-Driven Oversight: </a:t>
            </a:r>
            <a:r>
              <a:rPr b="0" sz="950">
                <a:solidFill>
                  <a:srgbClr val="E2E8F0"/>
                </a:solidFill>
              </a:rPr>
              <a:t>Caseworkers spend equal time on clean &amp; fraudulent files; micro-tampering &amp; fake digital seals slip through.</a:t>
            </a:r>
          </a:p>
          <a:p>
            <a:pPr>
              <a:defRPr b="1" sz="1050">
                <a:solidFill>
                  <a:srgbClr val="FFFFFF"/>
                </a:solidFill>
              </a:defRPr>
            </a:pPr>
            <a:r>
              <a:t>❌  Siloed Inter-Department Fraud: </a:t>
            </a:r>
            <a:r>
              <a:rPr b="0" sz="950">
                <a:solidFill>
                  <a:srgbClr val="E2E8F0"/>
                </a:solidFill>
              </a:rPr>
              <a:t>Duplicate funding requests across MPLAD, state portals &amp; municipal schemes go undetected due to no shared registry cross-referencing.</a:t>
            </a:r>
          </a:p>
          <a:p>
            <a:pPr>
              <a:defRPr b="1" sz="1050">
                <a:solidFill>
                  <a:srgbClr val="FFFFFF"/>
                </a:solidFill>
              </a:defRPr>
            </a:pPr>
            <a:r>
              <a:t>❌  Privacy &amp; PII Leakage Risk: </a:t>
            </a:r>
            <a:r>
              <a:rPr b="0" sz="950">
                <a:solidFill>
                  <a:srgbClr val="E2E8F0"/>
                </a:solidFill>
              </a:rPr>
              <a:t>Conventional OCR pipelines harvest and store unmasked citizen Aadhaar, PAN, and biometric identifiers into unencrypted databases.</a:t>
            </a:r>
          </a:p>
          <a:p>
            <a:pPr>
              <a:defRPr b="1" sz="1050">
                <a:solidFill>
                  <a:srgbClr val="FFFFFF"/>
                </a:solidFill>
              </a:defRPr>
            </a:pPr>
            <a:r>
              <a:t>❌  Static, Non-Learning Legacy RPA: </a:t>
            </a:r>
            <a:r>
              <a:rPr b="0" sz="950">
                <a:solidFill>
                  <a:srgbClr val="E2E8F0"/>
                </a:solidFill>
              </a:rPr>
              <a:t>Basic macro tools automate form inputs but lack intelligent verification, anomaly scoring, or active feedback loops.</a:t>
            </a:r>
          </a:p>
        </p:txBody>
      </p:sp>
      <p:sp>
        <p:nvSpPr>
          <p:cNvPr id="7" name="Rounded Rectangle 6"/>
          <p:cNvSpPr/>
          <p:nvPr/>
        </p:nvSpPr>
        <p:spPr>
          <a:xfrm>
            <a:off x="6217920" y="1371600"/>
            <a:ext cx="5212080" cy="4937760"/>
          </a:xfrm>
          <a:prstGeom prst="roundRect">
            <a:avLst/>
          </a:prstGeom>
          <a:solidFill>
            <a:srgbClr val="0C232D"/>
          </a:solidFill>
          <a:ln w="1905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400">
                <a:solidFill>
                  <a:srgbClr val="00E5FF"/>
                </a:solidFill>
              </a:defRPr>
            </a:pPr>
            <a:r>
              <a:t>THE AUTOGOV+ ADVANTAGE (Intelligent Solution)</a:t>
            </a:r>
          </a:p>
          <a:p>
            <a:pPr>
              <a:defRPr b="1" sz="1050">
                <a:solidFill>
                  <a:srgbClr val="00E5FF"/>
                </a:solidFill>
              </a:defRPr>
            </a:pPr>
            <a:r>
              <a:t>✅  Sub-5-Second Auto-Clearance: </a:t>
            </a:r>
            <a:r>
              <a:rPr b="0" sz="950">
                <a:solidFill>
                  <a:srgbClr val="E2E8F0"/>
                </a:solidFill>
              </a:rPr>
              <a:t>Straight-through autonomous processing auto-clears &gt;82% clean applications in 4.8 seconds.</a:t>
            </a:r>
          </a:p>
          <a:p>
            <a:pPr>
              <a:defRPr b="1" sz="1050">
                <a:solidFill>
                  <a:srgbClr val="00E5FF"/>
                </a:solidFill>
              </a:defRPr>
            </a:pPr>
            <a:r>
              <a:t>✅  Targeted Officer Review Cockpit: </a:t>
            </a:r>
            <a:r>
              <a:rPr b="0" sz="950">
                <a:solidFill>
                  <a:srgbClr val="E2E8F0"/>
                </a:solidFill>
              </a:rPr>
              <a:t>Pre-sorts applications by XGBoost risk score (0-100); caseworkers only review flagged edge cases with SHAP explainability.</a:t>
            </a:r>
          </a:p>
          <a:p>
            <a:pPr>
              <a:defRPr b="1" sz="1050">
                <a:solidFill>
                  <a:srgbClr val="00E5FF"/>
                </a:solidFill>
              </a:defRPr>
            </a:pPr>
            <a:r>
              <a:t>✅  Zero-PII Layout Analysis: </a:t>
            </a:r>
            <a:r>
              <a:rPr b="0" sz="950">
                <a:solidFill>
                  <a:srgbClr val="E2E8F0"/>
                </a:solidFill>
              </a:rPr>
              <a:t>Verifies official document geometry, spatial bounding boxes, and security seals without storing sensitive citizen PII.</a:t>
            </a:r>
          </a:p>
          <a:p>
            <a:pPr>
              <a:defRPr b="1" sz="1050">
                <a:solidFill>
                  <a:srgbClr val="00E5FF"/>
                </a:solidFill>
              </a:defRPr>
            </a:pPr>
            <a:r>
              <a:t>✅  Cross-Scheme Duplicate Prevention: </a:t>
            </a:r>
            <a:r>
              <a:rPr b="0" sz="950">
                <a:solidFill>
                  <a:srgbClr val="E2E8F0"/>
                </a:solidFill>
              </a:rPr>
              <a:t>Sentence-Transformers &amp; FAISS embeddings catch duplicate invoices, overlapping GPS coordinates &amp; identity recycling.</a:t>
            </a:r>
          </a:p>
          <a:p>
            <a:pPr>
              <a:defRPr b="1" sz="1050">
                <a:solidFill>
                  <a:srgbClr val="00E5FF"/>
                </a:solidFill>
              </a:defRPr>
            </a:pPr>
            <a:r>
              <a:t>✅  Continuous Active Learning: </a:t>
            </a:r>
            <a:r>
              <a:rPr b="0" sz="950">
                <a:solidFill>
                  <a:srgbClr val="E2E8F0"/>
                </a:solidFill>
              </a:rPr>
              <a:t>Officer feedback &amp; overrides seamlessly feed back into the retraining pipeline for zero-regression adaptive fraud detection.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772400" cy="731520"/>
          </a:xfrm>
          <a:prstGeom prst="rect">
            <a:avLst/>
          </a:prstGeom>
          <a:noFill/>
        </p:spPr>
        <p:txBody>
          <a:bodyPr wrap="square">
            <a:spAutoFit/>
          </a:bodyPr>
          <a:lstStyle/>
          <a:p>
            <a:pPr>
              <a:defRPr sz="2400" b="1">
                <a:solidFill>
                  <a:srgbClr val="FFFFFF"/>
                </a:solidFill>
              </a:defRPr>
            </a:pPr>
            <a:r>
              <a:t>TECHNICAL APPROACH &amp; TECH STACK</a:t>
            </a:r>
          </a:p>
          <a:p>
            <a:pPr>
              <a:defRPr sz="1000">
                <a:solidFill>
                  <a:srgbClr val="00E5FF"/>
                </a:solidFill>
              </a:defRPr>
            </a:pPr>
            <a:r>
              <a:t>SLIDE 3 | Smart India Hackathon 2025-2026 | AutoGov+ Idea Submission</a:t>
            </a:r>
          </a:p>
        </p:txBody>
      </p:sp>
      <p:pic>
        <p:nvPicPr>
          <p:cNvPr id="4" name="Picture 3" descr="page_1_img_2_Image2.jpg"/>
          <p:cNvPicPr>
            <a:picLocks noChangeAspect="1"/>
          </p:cNvPicPr>
          <p:nvPr/>
        </p:nvPicPr>
        <p:blipFill>
          <a:blip r:embed="rId2"/>
          <a:stretch>
            <a:fillRect/>
          </a:stretch>
        </p:blipFill>
        <p:spPr>
          <a:xfrm>
            <a:off x="9326880" y="320040"/>
            <a:ext cx="1164946" cy="594360"/>
          </a:xfrm>
          <a:prstGeom prst="rect">
            <a:avLst/>
          </a:prstGeom>
        </p:spPr>
      </p:pic>
      <p:pic>
        <p:nvPicPr>
          <p:cNvPr id="5" name="Picture 4" descr="page_1_img_3_Image3.jpg"/>
          <p:cNvPicPr>
            <a:picLocks noChangeAspect="1"/>
          </p:cNvPicPr>
          <p:nvPr/>
        </p:nvPicPr>
        <p:blipFill>
          <a:blip r:embed="rId3"/>
          <a:stretch>
            <a:fillRect/>
          </a:stretch>
        </p:blipFill>
        <p:spPr>
          <a:xfrm>
            <a:off x="10972800" y="320040"/>
            <a:ext cx="600048" cy="594360"/>
          </a:xfrm>
          <a:prstGeom prst="rect">
            <a:avLst/>
          </a:prstGeom>
        </p:spPr>
      </p:pic>
      <p:pic>
        <p:nvPicPr>
          <p:cNvPr id="6" name="Picture 5" descr="page_3_img_2_Image2.jpg"/>
          <p:cNvPicPr>
            <a:picLocks noChangeAspect="1"/>
          </p:cNvPicPr>
          <p:nvPr/>
        </p:nvPicPr>
        <p:blipFill>
          <a:blip r:embed="rId4"/>
          <a:stretch>
            <a:fillRect/>
          </a:stretch>
        </p:blipFill>
        <p:spPr>
          <a:xfrm>
            <a:off x="731520" y="1280160"/>
            <a:ext cx="10728655" cy="5601605"/>
          </a:xfrm>
          <a:prstGeom prst="rect">
            <a:avLst/>
          </a:prstGeom>
        </p:spPr>
      </p:pic>
      <p:sp>
        <p:nvSpPr>
          <p:cNvPr id="7" name="Rounded Rectangle 6"/>
          <p:cNvSpPr/>
          <p:nvPr/>
        </p:nvSpPr>
        <p:spPr>
          <a:xfrm>
            <a:off x="731520" y="3931920"/>
            <a:ext cx="10728655" cy="2468880"/>
          </a:xfrm>
          <a:prstGeom prst="roundRect">
            <a:avLst/>
          </a:prstGeom>
          <a:solidFill>
            <a:srgbClr val="142440"/>
          </a:solidFill>
          <a:ln>
            <a:solidFill>
              <a:srgbClr val="1E3A6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200">
                <a:solidFill>
                  <a:srgbClr val="FF9933"/>
                </a:solidFill>
              </a:defRPr>
            </a:pPr>
            <a:r>
              <a:t>CORE ARCHITECTURE LAYERS &amp; SPECIALIZED TOOLING</a:t>
            </a:r>
          </a:p>
          <a:p>
            <a:pPr>
              <a:defRPr b="1" sz="1000">
                <a:solidFill>
                  <a:srgbClr val="00E5FF"/>
                </a:solidFill>
              </a:defRPr>
            </a:pPr>
            <a:r>
              <a:t>• Frontend &amp; Dashboard: </a:t>
            </a:r>
            <a:r>
              <a:rPr b="0" sz="950">
                <a:solidFill>
                  <a:srgbClr val="FFFFFF"/>
                </a:solidFill>
              </a:rPr>
              <a:t>React 19, TypeScript, Tailwind CSS, Lucide Icons, Mobile-first Officer PWA Cockpit</a:t>
            </a:r>
          </a:p>
          <a:p>
            <a:pPr>
              <a:defRPr b="1" sz="1000">
                <a:solidFill>
                  <a:srgbClr val="00E5FF"/>
                </a:solidFill>
              </a:defRPr>
            </a:pPr>
            <a:r>
              <a:t>• Backend &amp; Ingestion: </a:t>
            </a:r>
            <a:r>
              <a:rPr b="0" sz="950">
                <a:solidFill>
                  <a:srgbClr val="FFFFFF"/>
                </a:solidFill>
              </a:rPr>
              <a:t>Node.js / Express high-throughput REST APIs, multi-file stream handler, Cloudflare tunnel gateway</a:t>
            </a:r>
          </a:p>
          <a:p>
            <a:pPr>
              <a:defRPr b="1" sz="1000">
                <a:solidFill>
                  <a:srgbClr val="00E5FF"/>
                </a:solidFill>
              </a:defRPr>
            </a:pPr>
            <a:r>
              <a:t>• Computer Vision &amp; OCR: </a:t>
            </a:r>
            <a:r>
              <a:rPr b="0" sz="950">
                <a:solidFill>
                  <a:srgbClr val="FFFFFF"/>
                </a:solidFill>
              </a:rPr>
              <a:t>OpenCV Layout Geometry analysis, Tesseract OCR / Google Vision, multi-bounding box spatial mapper</a:t>
            </a:r>
          </a:p>
          <a:p>
            <a:pPr>
              <a:defRPr b="1" sz="1000">
                <a:solidFill>
                  <a:srgbClr val="00E5FF"/>
                </a:solidFill>
              </a:defRPr>
            </a:pPr>
            <a:r>
              <a:t>• Forgery &amp; Tampering: </a:t>
            </a:r>
            <a:r>
              <a:rPr b="0" sz="950">
                <a:solidFill>
                  <a:srgbClr val="FFFFFF"/>
                </a:solidFill>
              </a:rPr>
              <a:t>PyTorch CNN (Error Level Analysis - ELA), Digital Signature vector verification, micro-font anomaly checker</a:t>
            </a:r>
          </a:p>
          <a:p>
            <a:pPr>
              <a:defRPr b="1" sz="1000">
                <a:solidFill>
                  <a:srgbClr val="00E5FF"/>
                </a:solidFill>
              </a:defRPr>
            </a:pPr>
            <a:r>
              <a:t>• Risk Scoring &amp; XAI: </a:t>
            </a:r>
            <a:r>
              <a:rPr b="0" sz="950">
                <a:solidFill>
                  <a:srgbClr val="FFFFFF"/>
                </a:solidFill>
              </a:rPr>
              <a:t>XGBoost + LightGBM fraud ensemble (0-100 score), SHAP TreeExplainer court-admissible waterfall charts</a:t>
            </a:r>
          </a:p>
          <a:p>
            <a:pPr>
              <a:defRPr b="1" sz="1000">
                <a:solidFill>
                  <a:srgbClr val="00E5FF"/>
                </a:solidFill>
              </a:defRPr>
            </a:pPr>
            <a:r>
              <a:t>• Entity Matching &amp; MLOps: </a:t>
            </a:r>
            <a:r>
              <a:rPr b="0" sz="950">
                <a:solidFill>
                  <a:srgbClr val="FFFFFF"/>
                </a:solidFill>
              </a:rPr>
              <a:t>Sentence-Transformers + FAISS vector search (cross-scheme deduplication), MLflow model registry</a:t>
            </a:r>
          </a:p>
          <a:p>
            <a:pPr>
              <a:defRPr b="1" sz="1000">
                <a:solidFill>
                  <a:srgbClr val="00E5FF"/>
                </a:solidFill>
              </a:defRPr>
            </a:pPr>
            <a:r>
              <a:t>• Security &amp; Compliance: </a:t>
            </a:r>
            <a:r>
              <a:rPr b="0" sz="950">
                <a:solidFill>
                  <a:srgbClr val="FFFFFF"/>
                </a:solidFill>
              </a:rPr>
              <a:t>Zero-PII retention architecture, AES-256 at rest, TLS 1.3 in transit, UIDAI circular &amp; DPDP Act compliance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772400" cy="731520"/>
          </a:xfrm>
          <a:prstGeom prst="rect">
            <a:avLst/>
          </a:prstGeom>
          <a:noFill/>
        </p:spPr>
        <p:txBody>
          <a:bodyPr wrap="square">
            <a:spAutoFit/>
          </a:bodyPr>
          <a:lstStyle/>
          <a:p>
            <a:pPr>
              <a:defRPr sz="2400" b="1">
                <a:solidFill>
                  <a:srgbClr val="FFFFFF"/>
                </a:solidFill>
              </a:defRPr>
            </a:pPr>
            <a:r>
              <a:t>FEASIBILITY AND VIABILITY</a:t>
            </a:r>
          </a:p>
          <a:p>
            <a:pPr>
              <a:defRPr sz="1000">
                <a:solidFill>
                  <a:srgbClr val="00E5FF"/>
                </a:solidFill>
              </a:defRPr>
            </a:pPr>
            <a:r>
              <a:t>SLIDE 4 | Smart India Hackathon 2025-2026 | AutoGov+ Idea Submission</a:t>
            </a:r>
          </a:p>
        </p:txBody>
      </p:sp>
      <p:pic>
        <p:nvPicPr>
          <p:cNvPr id="4" name="Picture 3" descr="page_1_img_2_Image2.jpg"/>
          <p:cNvPicPr>
            <a:picLocks noChangeAspect="1"/>
          </p:cNvPicPr>
          <p:nvPr/>
        </p:nvPicPr>
        <p:blipFill>
          <a:blip r:embed="rId2"/>
          <a:stretch>
            <a:fillRect/>
          </a:stretch>
        </p:blipFill>
        <p:spPr>
          <a:xfrm>
            <a:off x="9326880" y="320040"/>
            <a:ext cx="1164946" cy="594360"/>
          </a:xfrm>
          <a:prstGeom prst="rect">
            <a:avLst/>
          </a:prstGeom>
        </p:spPr>
      </p:pic>
      <p:pic>
        <p:nvPicPr>
          <p:cNvPr id="5" name="Picture 4" descr="page_1_img_3_Image3.jpg"/>
          <p:cNvPicPr>
            <a:picLocks noChangeAspect="1"/>
          </p:cNvPicPr>
          <p:nvPr/>
        </p:nvPicPr>
        <p:blipFill>
          <a:blip r:embed="rId3"/>
          <a:stretch>
            <a:fillRect/>
          </a:stretch>
        </p:blipFill>
        <p:spPr>
          <a:xfrm>
            <a:off x="10972800" y="320040"/>
            <a:ext cx="600048" cy="594360"/>
          </a:xfrm>
          <a:prstGeom prst="rect">
            <a:avLst/>
          </a:prstGeom>
        </p:spPr>
      </p:pic>
      <p:sp>
        <p:nvSpPr>
          <p:cNvPr id="6" name="Rounded Rectangle 5"/>
          <p:cNvSpPr/>
          <p:nvPr/>
        </p:nvSpPr>
        <p:spPr>
          <a:xfrm>
            <a:off x="731520" y="1371600"/>
            <a:ext cx="5486400" cy="4937760"/>
          </a:xfrm>
          <a:prstGeom prst="roundRect">
            <a:avLst/>
          </a:prstGeom>
          <a:solidFill>
            <a:srgbClr val="142440"/>
          </a:solidFill>
          <a:ln>
            <a:solidFill>
              <a:srgbClr val="1E3A6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FF9933"/>
                </a:solidFill>
              </a:defRPr>
            </a:pPr>
            <a:r>
              <a:t>PROJECT FEASIBILITY &amp; ADOPTION ROADMAP</a:t>
            </a:r>
          </a:p>
          <a:p>
            <a:pPr>
              <a:defRPr b="1" sz="1100">
                <a:solidFill>
                  <a:srgbClr val="00E5FF"/>
                </a:solidFill>
              </a:defRPr>
            </a:pPr>
            <a:r>
              <a:t>1. Technical Feasibility (Ready Now):</a:t>
            </a:r>
            <a:r>
              <a:rPr sz="950">
                <a:solidFill>
                  <a:srgbClr val="E2E8F0"/>
                </a:solidFill>
              </a:rPr>
              <a:t>
• The underlying technologies (computer vision, XGBoost, SHAP) are battle-tested in banking &amp; defense.
• Full prototype is already built, validated on 1000+ synthetic/sample records, and live deployed on cloud.</a:t>
            </a:r>
          </a:p>
          <a:p>
            <a:pPr>
              <a:defRPr b="1" sz="1100">
                <a:solidFill>
                  <a:srgbClr val="00E5FF"/>
                </a:solidFill>
              </a:defRPr>
            </a:pPr>
            <a:r>
              <a:t>2. Data Ingestion &amp; Quality Handling:</a:t>
            </a:r>
            <a:r>
              <a:rPr sz="950">
                <a:solidFill>
                  <a:srgbClr val="E2E8F0"/>
                </a:solidFill>
              </a:rPr>
              <a:t>
• Challenge: Citizen uploads vary in resolution, lighting, and phone camera distortion.
• AutoGov+ Solution: Automated pre-processing pipeline corrects skew, noise, contrast, and resolution prior to geometry extraction.</a:t>
            </a:r>
          </a:p>
          <a:p>
            <a:pPr>
              <a:defRPr b="1" sz="1100">
                <a:solidFill>
                  <a:srgbClr val="10B981"/>
                </a:solidFill>
              </a:defRPr>
            </a:pPr>
            <a:r>
              <a:t>3. Economic Viability &amp; Cost Savings:</a:t>
            </a:r>
            <a:r>
              <a:rPr sz="950">
                <a:solidFill>
                  <a:srgbClr val="E2E8F0"/>
                </a:solidFill>
              </a:rPr>
              <a:t>
• Direct ROI: Halts fraudulent payouts, phantom beneficiaries, and duplicate work billing.
• Unit Economics: Cuts processing cost per application from ₹450 (manual) to under ₹2.50 (automated).</a:t>
            </a:r>
          </a:p>
          <a:p>
            <a:pPr>
              <a:defRPr b="1" sz="1100">
                <a:solidFill>
                  <a:srgbClr val="10B981"/>
                </a:solidFill>
              </a:defRPr>
            </a:pPr>
            <a:r>
              <a:t>4. Change Management &amp; Administrative Buy-In:</a:t>
            </a:r>
            <a:r>
              <a:rPr sz="950">
                <a:solidFill>
                  <a:srgbClr val="E2E8F0"/>
                </a:solidFill>
              </a:rPr>
              <a:t>
• Not an AI replacement, but an Officer Cockpit tool empowering staff with SHAP evidence.
• Immutable audit logs ensure legal accountability and protect honest officers from scrutiny.</a:t>
            </a:r>
          </a:p>
        </p:txBody>
      </p:sp>
      <p:pic>
        <p:nvPicPr>
          <p:cNvPr id="7" name="Picture 6" descr="page_4_img_2_Image2.jpg"/>
          <p:cNvPicPr>
            <a:picLocks noChangeAspect="1"/>
          </p:cNvPicPr>
          <p:nvPr/>
        </p:nvPicPr>
        <p:blipFill>
          <a:blip r:embed="rId4"/>
          <a:stretch>
            <a:fillRect/>
          </a:stretch>
        </p:blipFill>
        <p:spPr>
          <a:xfrm>
            <a:off x="6492240" y="1371600"/>
            <a:ext cx="4937760" cy="4428554"/>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772400" cy="731520"/>
          </a:xfrm>
          <a:prstGeom prst="rect">
            <a:avLst/>
          </a:prstGeom>
          <a:noFill/>
        </p:spPr>
        <p:txBody>
          <a:bodyPr wrap="square">
            <a:spAutoFit/>
          </a:bodyPr>
          <a:lstStyle/>
          <a:p>
            <a:pPr>
              <a:defRPr sz="2400" b="1">
                <a:solidFill>
                  <a:srgbClr val="FFFFFF"/>
                </a:solidFill>
              </a:defRPr>
            </a:pPr>
            <a:r>
              <a:t>IMPACT AND BENEFITS</a:t>
            </a:r>
          </a:p>
          <a:p>
            <a:pPr>
              <a:defRPr sz="1000">
                <a:solidFill>
                  <a:srgbClr val="00E5FF"/>
                </a:solidFill>
              </a:defRPr>
            </a:pPr>
            <a:r>
              <a:t>SLIDE 5 | Smart India Hackathon 2025-2026 | AutoGov+ Idea Submission</a:t>
            </a:r>
          </a:p>
        </p:txBody>
      </p:sp>
      <p:pic>
        <p:nvPicPr>
          <p:cNvPr id="4" name="Picture 3" descr="page_1_img_2_Image2.jpg"/>
          <p:cNvPicPr>
            <a:picLocks noChangeAspect="1"/>
          </p:cNvPicPr>
          <p:nvPr/>
        </p:nvPicPr>
        <p:blipFill>
          <a:blip r:embed="rId2"/>
          <a:stretch>
            <a:fillRect/>
          </a:stretch>
        </p:blipFill>
        <p:spPr>
          <a:xfrm>
            <a:off x="9326880" y="320040"/>
            <a:ext cx="1164946" cy="594360"/>
          </a:xfrm>
          <a:prstGeom prst="rect">
            <a:avLst/>
          </a:prstGeom>
        </p:spPr>
      </p:pic>
      <p:pic>
        <p:nvPicPr>
          <p:cNvPr id="5" name="Picture 4" descr="page_1_img_3_Image3.jpg"/>
          <p:cNvPicPr>
            <a:picLocks noChangeAspect="1"/>
          </p:cNvPicPr>
          <p:nvPr/>
        </p:nvPicPr>
        <p:blipFill>
          <a:blip r:embed="rId3"/>
          <a:stretch>
            <a:fillRect/>
          </a:stretch>
        </p:blipFill>
        <p:spPr>
          <a:xfrm>
            <a:off x="10972800" y="320040"/>
            <a:ext cx="600048" cy="594360"/>
          </a:xfrm>
          <a:prstGeom prst="rect">
            <a:avLst/>
          </a:prstGeom>
        </p:spPr>
      </p:pic>
      <p:sp>
        <p:nvSpPr>
          <p:cNvPr id="6" name="Rounded Rectangle 5"/>
          <p:cNvSpPr/>
          <p:nvPr/>
        </p:nvSpPr>
        <p:spPr>
          <a:xfrm>
            <a:off x="731520" y="1371600"/>
            <a:ext cx="5486400" cy="4937760"/>
          </a:xfrm>
          <a:prstGeom prst="roundRect">
            <a:avLst/>
          </a:prstGeom>
          <a:solidFill>
            <a:srgbClr val="142440"/>
          </a:solidFill>
          <a:ln>
            <a:solidFill>
              <a:srgbClr val="1E3A6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00E5FF"/>
                </a:solidFill>
              </a:defRPr>
            </a:pPr>
            <a:r>
              <a:t>QUANTIFIABLE GOVERNANCE IMPACT</a:t>
            </a:r>
          </a:p>
          <a:p>
            <a:pPr>
              <a:defRPr b="1" sz="1050">
                <a:solidFill>
                  <a:srgbClr val="FF9933"/>
                </a:solidFill>
              </a:defRPr>
            </a:pPr>
            <a:r>
              <a:t>⚡ 10x-100x Faster Clearances: </a:t>
            </a:r>
            <a:r>
              <a:rPr b="0" sz="950">
                <a:solidFill>
                  <a:srgbClr val="FFFFFF"/>
                </a:solidFill>
              </a:rPr>
              <a:t>Turnaround cut from 15-30 days to under 48 hours for complex schemes, and 4.8 seconds for standard certificates. Prevents backlog pileups.</a:t>
            </a:r>
          </a:p>
          <a:p>
            <a:pPr>
              <a:defRPr b="1" sz="1050">
                <a:solidFill>
                  <a:srgbClr val="FF9933"/>
                </a:solidFill>
              </a:defRPr>
            </a:pPr>
            <a:r>
              <a:t>🎯 Targeted Officer Review: </a:t>
            </a:r>
            <a:r>
              <a:rPr b="0" sz="950">
                <a:solidFill>
                  <a:srgbClr val="FFFFFF"/>
                </a:solidFill>
              </a:rPr>
              <a:t>Intelligent risk scoring routes only the top ~18% suspicious files to caseworkers, cutting review time from hours to 3-5 minutes per file.</a:t>
            </a:r>
          </a:p>
          <a:p>
            <a:pPr>
              <a:defRPr b="1" sz="1050">
                <a:solidFill>
                  <a:srgbClr val="FF9933"/>
                </a:solidFill>
              </a:defRPr>
            </a:pPr>
            <a:r>
              <a:t>🛡️ 100% Forgery &amp; Tampering Coverage: </a:t>
            </a:r>
            <a:r>
              <a:rPr b="0" sz="950">
                <a:solidFill>
                  <a:srgbClr val="FFFFFF"/>
                </a:solidFill>
              </a:rPr>
              <a:t>Every bill, utility record, seal, and certificate undergoes pixel-level and structural layout inspection, leaving zero blind spots.</a:t>
            </a:r>
          </a:p>
          <a:p>
            <a:pPr>
              <a:defRPr b="1" sz="1050">
                <a:solidFill>
                  <a:srgbClr val="FF9933"/>
                </a:solidFill>
              </a:defRPr>
            </a:pPr>
            <a:r>
              <a:t>🔗 Cross-Scheme Anti-Collusion: </a:t>
            </a:r>
            <a:r>
              <a:rPr b="0" sz="950">
                <a:solidFill>
                  <a:srgbClr val="FFFFFF"/>
                </a:solidFill>
              </a:rPr>
              <a:t>Vector-based deduplication stops contractors and fraudulent applicants from claiming funds twice under different department headers.</a:t>
            </a:r>
          </a:p>
          <a:p>
            <a:pPr>
              <a:defRPr b="1" sz="1050">
                <a:solidFill>
                  <a:srgbClr val="FF9933"/>
                </a:solidFill>
              </a:defRPr>
            </a:pPr>
            <a:r>
              <a:t>🔄 Active Human-in-the-Loop Learning: </a:t>
            </a:r>
            <a:r>
              <a:rPr b="0" sz="950">
                <a:solidFill>
                  <a:srgbClr val="FFFFFF"/>
                </a:solidFill>
              </a:rPr>
              <a:t>Officer approvals and overrides continuously feed back into the ML pipeline, keeping models updated against emerging fraud schemes.</a:t>
            </a:r>
          </a:p>
          <a:p>
            <a:pPr>
              <a:defRPr b="1" sz="1050">
                <a:solidFill>
                  <a:srgbClr val="FF9933"/>
                </a:solidFill>
              </a:defRPr>
            </a:pPr>
            <a:r>
              <a:t>🇮🇳 DPI &amp; Bharat Scale Ready: </a:t>
            </a:r>
            <a:r>
              <a:rPr b="0" sz="950">
                <a:solidFill>
                  <a:srgbClr val="FFFFFF"/>
                </a:solidFill>
              </a:rPr>
              <a:t>Built to integrate seamlessly with DigiLocker, UMANG, Aadhaar, Parivahan, and state service delivery gateways.</a:t>
            </a:r>
          </a:p>
        </p:txBody>
      </p:sp>
      <p:pic>
        <p:nvPicPr>
          <p:cNvPr id="7" name="Picture 6" descr="page_5_img_2_Image2.jpg"/>
          <p:cNvPicPr>
            <a:picLocks noChangeAspect="1"/>
          </p:cNvPicPr>
          <p:nvPr/>
        </p:nvPicPr>
        <p:blipFill>
          <a:blip r:embed="rId4"/>
          <a:stretch>
            <a:fillRect/>
          </a:stretch>
        </p:blipFill>
        <p:spPr>
          <a:xfrm>
            <a:off x="6492240" y="1371600"/>
            <a:ext cx="4937760" cy="4519988"/>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772400" cy="731520"/>
          </a:xfrm>
          <a:prstGeom prst="rect">
            <a:avLst/>
          </a:prstGeom>
          <a:noFill/>
        </p:spPr>
        <p:txBody>
          <a:bodyPr wrap="square">
            <a:spAutoFit/>
          </a:bodyPr>
          <a:lstStyle/>
          <a:p>
            <a:pPr>
              <a:defRPr sz="2400" b="1">
                <a:solidFill>
                  <a:srgbClr val="FFFFFF"/>
                </a:solidFill>
              </a:defRPr>
            </a:pPr>
            <a:r>
              <a:t>RESEARCH, REFERENCES &amp; 10-STEP PIPELINE</a:t>
            </a:r>
          </a:p>
          <a:p>
            <a:pPr>
              <a:defRPr sz="1000">
                <a:solidFill>
                  <a:srgbClr val="00E5FF"/>
                </a:solidFill>
              </a:defRPr>
            </a:pPr>
            <a:r>
              <a:t>SLIDE 6 | Smart India Hackathon 2025-2026 | AutoGov+ Idea Submission</a:t>
            </a:r>
          </a:p>
        </p:txBody>
      </p:sp>
      <p:pic>
        <p:nvPicPr>
          <p:cNvPr id="4" name="Picture 3" descr="page_1_img_2_Image2.jpg"/>
          <p:cNvPicPr>
            <a:picLocks noChangeAspect="1"/>
          </p:cNvPicPr>
          <p:nvPr/>
        </p:nvPicPr>
        <p:blipFill>
          <a:blip r:embed="rId2"/>
          <a:stretch>
            <a:fillRect/>
          </a:stretch>
        </p:blipFill>
        <p:spPr>
          <a:xfrm>
            <a:off x="9326880" y="320040"/>
            <a:ext cx="1164946" cy="594360"/>
          </a:xfrm>
          <a:prstGeom prst="rect">
            <a:avLst/>
          </a:prstGeom>
        </p:spPr>
      </p:pic>
      <p:pic>
        <p:nvPicPr>
          <p:cNvPr id="5" name="Picture 4" descr="page_1_img_3_Image3.jpg"/>
          <p:cNvPicPr>
            <a:picLocks noChangeAspect="1"/>
          </p:cNvPicPr>
          <p:nvPr/>
        </p:nvPicPr>
        <p:blipFill>
          <a:blip r:embed="rId3"/>
          <a:stretch>
            <a:fillRect/>
          </a:stretch>
        </p:blipFill>
        <p:spPr>
          <a:xfrm>
            <a:off x="10972800" y="320040"/>
            <a:ext cx="600048" cy="594360"/>
          </a:xfrm>
          <a:prstGeom prst="rect">
            <a:avLst/>
          </a:prstGeom>
        </p:spPr>
      </p:pic>
      <p:sp>
        <p:nvSpPr>
          <p:cNvPr id="6" name="Rounded Rectangle 5"/>
          <p:cNvSpPr/>
          <p:nvPr/>
        </p:nvSpPr>
        <p:spPr>
          <a:xfrm>
            <a:off x="731520" y="1280160"/>
            <a:ext cx="10728655" cy="2011680"/>
          </a:xfrm>
          <a:prstGeom prst="roundRect">
            <a:avLst/>
          </a:prstGeom>
          <a:solidFill>
            <a:srgbClr val="142440"/>
          </a:solidFill>
          <a:ln>
            <a:solidFill>
              <a:srgbClr val="1E3A6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200">
                <a:solidFill>
                  <a:srgbClr val="FF9933"/>
                </a:solidFill>
              </a:defRPr>
            </a:pPr>
            <a:r>
              <a:t>STATUTORY FRAMEWORKS &amp; SCIENTIFIC CITATIONS</a:t>
            </a:r>
          </a:p>
          <a:p>
            <a:pPr>
              <a:defRPr b="1" sz="1050">
                <a:solidFill>
                  <a:srgbClr val="00E5FF"/>
                </a:solidFill>
              </a:defRPr>
            </a:pPr>
            <a:r>
              <a:t>🏛️ Policy &amp; Government Frameworks:</a:t>
            </a:r>
            <a:r>
              <a:rPr sz="950">
                <a:solidFill>
                  <a:srgbClr val="E2E8F0"/>
                </a:solidFill>
              </a:rPr>
              <a:t>
• Right to Public Services (RTS) Act: Turnaround benchmarks for citizen applications and statutory right to timely service.
• MeitY Digital India / National e-Governance AI Adoption Guidelines &amp; DPDP Act 2023 for zero-PII storage compliance.</a:t>
            </a:r>
          </a:p>
          <a:p>
            <a:pPr>
              <a:defRPr b="1" sz="1050">
                <a:solidFill>
                  <a:srgbClr val="00E5FF"/>
                </a:solidFill>
              </a:defRPr>
            </a:pPr>
            <a:r>
              <a:t>🔬 Scientific &amp; Technical Research Foundations:</a:t>
            </a:r>
            <a:r>
              <a:rPr sz="950">
                <a:solidFill>
                  <a:srgbClr val="E2E8F0"/>
                </a:solidFill>
              </a:rPr>
              <a:t>
• CNN &amp; ELA-Based Document Forgery Detection: Error Level Analysis and ResNet-based tamper localization on digital certificates.
• SHAP (SHapley Additive exPlanations): Game-theoretic feature attribution for high-stakes public administrative decision-making.</a:t>
            </a:r>
          </a:p>
        </p:txBody>
      </p:sp>
      <p:pic>
        <p:nvPicPr>
          <p:cNvPr id="7" name="Picture 6" descr="page_6_img_2_Image2.jpg"/>
          <p:cNvPicPr>
            <a:picLocks noChangeAspect="1"/>
          </p:cNvPicPr>
          <p:nvPr/>
        </p:nvPicPr>
        <p:blipFill>
          <a:blip r:embed="rId4"/>
          <a:stretch>
            <a:fillRect/>
          </a:stretch>
        </p:blipFill>
        <p:spPr>
          <a:xfrm>
            <a:off x="731520" y="3474720"/>
            <a:ext cx="10728655" cy="5483323"/>
          </a:xfrm>
          <a:prstGeom prst="rect">
            <a:avLst/>
          </a:prstGeom>
        </p:spPr>
      </p:pic>
      <p:sp>
        <p:nvSpPr>
          <p:cNvPr id="8" name="Rectangle 7"/>
          <p:cNvSpPr/>
          <p:nvPr/>
        </p:nvSpPr>
        <p:spPr>
          <a:xfrm>
            <a:off x="731520" y="6217920"/>
            <a:ext cx="10728655" cy="411480"/>
          </a:xfrm>
          <a:prstGeom prst="rect">
            <a:avLst/>
          </a:prstGeom>
          <a:solidFill>
            <a:srgbClr val="0F172A"/>
          </a:solidFill>
          <a:ln>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0E5FF"/>
                </a:solidFill>
              </a:defRPr>
            </a:pPr>
            <a:r>
              <a:t>🌐 Live System Demo: https://printed-blind-lil-arch.trycloudflare.com   |   💻 GitHub: github.com/kushalshahbtech2025-coder/autogov   |   Team Innova8 (T049)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