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to AutoGov+ presentation. Team Innova8 (T049), Problem Statement SIH26102. Live demo available at: https://printed-blind-lil-arch.trycloudflare.com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Addressing the issue: Manual challenges take 15-30 days, caseworker fatigue, no cross-department fraud checks. AutoGov+ brings auto-decision in seconds, 100% forgery scanning, and automated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Approach: React PWA, FastAPI/Express, PyTorch CNN ELA, XGBoost, FAISS, SHAP explainable AI, and strict AES-256 with TLS 1.3. Live demo: https://printed-blind-lil-arch.trycloudflare.com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 &amp; Viability: Technology is proven, data noise handled via OpenCV preprocessing, saves public funds, empowers caseworkers via Human-in-the-Loop Cockpit.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&amp; Benefits: 10x faster clearances, 3-5 minute targeted officer reviews, 100% forgery detection, duplicate funding prevention, continuous active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&amp; References: RTS Act, DPDP Act 2023, MeitY guidelines, CNN ELA, and SHAP explainability. Live demo: https://printed-blind-lil-arch.trycloudflare.com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hyperlink" Target="https://printed-blind-lil-arch.trycloudflare.com" TargetMode="External"/><Relationship Id="rId5" Type="http://schemas.openxmlformats.org/officeDocument/2006/relationships/hyperlink" Target="https://github.com/kushalshahbtech2025-coder/autogov" TargetMode="External"/><Relationship Id="rId6" Type="http://schemas.openxmlformats.org/officeDocument/2006/relationships/image" Target="../media/image3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hyperlink" Target="https://printed-blind-lil-arch.trycloudflare.com" TargetMode="External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hyperlink" Target="https://printed-blind-lil-arch.trycloudflare.com" TargetMode="External"/><Relationship Id="rId5" Type="http://schemas.openxmlformats.org/officeDocument/2006/relationships/hyperlink" Target="https://github.com/kushalshahbtech2025-coder/autogov" TargetMode="External"/><Relationship Id="rId6" Type="http://schemas.openxmlformats.org/officeDocument/2006/relationships/image" Target="../media/image9.jpg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2004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1A365D"/>
                </a:solidFill>
                <a:latin typeface="Times New Roman"/>
              </a:defRPr>
            </a:pPr>
            <a:r>
              <a:rPr>
                <a:latin typeface="Times New Roman"/>
              </a:rPr>
              <a:t>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9601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Problem Statement ID - </a:t>
            </a:r>
            <a:r>
              <a:rPr sz="1200" i="1">
                <a:solidFill>
                  <a:srgbClr val="004C99"/>
                </a:solidFill>
                <a:latin typeface="Calibri"/>
              </a:rPr>
              <a:t>SIH26102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Problem Statement Title  - </a:t>
            </a:r>
            <a:r>
              <a:rPr sz="1200" i="1">
                <a:solidFill>
                  <a:srgbClr val="004C99"/>
                </a:solidFill>
                <a:latin typeface="Calibri"/>
              </a:rPr>
              <a:t>AI-powered system to detect anomalies, fraud, and inefficiencies in MPLAD Scheme implementation regd.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Theme  - </a:t>
            </a:r>
            <a:r>
              <a:rPr sz="1200" i="1">
                <a:solidFill>
                  <a:srgbClr val="004C99"/>
                </a:solidFill>
                <a:latin typeface="Calibri"/>
              </a:rPr>
              <a:t>Smart Governance, e-Governance and Smart Automation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PS Category - </a:t>
            </a:r>
            <a:r>
              <a:rPr sz="1200" i="1">
                <a:solidFill>
                  <a:srgbClr val="004C99"/>
                </a:solidFill>
                <a:latin typeface="Calibri"/>
              </a:rPr>
              <a:t>Software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Team ID – </a:t>
            </a:r>
            <a:r>
              <a:rPr sz="1200" i="1">
                <a:solidFill>
                  <a:srgbClr val="004C99"/>
                </a:solidFill>
                <a:latin typeface="Calibri"/>
              </a:rPr>
              <a:t>T049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Team Name – </a:t>
            </a:r>
            <a:r>
              <a:rPr sz="1200" i="1">
                <a:solidFill>
                  <a:srgbClr val="004C99"/>
                </a:solidFill>
                <a:latin typeface="Calibri"/>
              </a:rPr>
              <a:t>Innova8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Live Prototype URL – </a:t>
            </a:r>
            <a:r>
              <a:rPr sz="1200" b="1" u="sng">
                <a:solidFill>
                  <a:srgbClr val="0066CC"/>
                </a:solidFill>
                <a:latin typeface="Calibri"/>
                <a:hlinkClick r:id="rId4"/>
              </a:rPr>
              <a:t>https://printed-blind-lil-arch.trycloudflare.com</a:t>
            </a:r>
          </a:p>
          <a:p>
            <a:pPr>
              <a:spcAft>
                <a:spcPts val="7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•  </a:t>
            </a:r>
            <a:r>
              <a:rPr b="1" sz="1200">
                <a:solidFill>
                  <a:srgbClr val="000000"/>
                </a:solidFill>
                <a:latin typeface="Calibri"/>
              </a:rPr>
              <a:t>GitHub Repository – </a:t>
            </a:r>
            <a:r>
              <a:rPr sz="1200" b="1" u="sng">
                <a:solidFill>
                  <a:srgbClr val="0066CC"/>
                </a:solidFill>
                <a:latin typeface="Calibri"/>
                <a:hlinkClick r:id="rId5"/>
              </a:rPr>
              <a:t>https://github.com/kushalshahbtech2025-coder/autogov</a:t>
            </a:r>
          </a:p>
        </p:txBody>
      </p:sp>
      <p:pic>
        <p:nvPicPr>
          <p:cNvPr id="8" name="Picture 7" descr="page_1_img_1_Image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1600200"/>
            <a:ext cx="301752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58064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Siddhant Sinha | 25070123109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Alisha Mittal | 25070126214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Nirvan Joneja | 25070126117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8064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Mannat Tanda | 25070126107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Kushal Shah | 25070126097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Karthik Prakash | 25070126088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ADDRESSING THE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2</a:t>
            </a:r>
          </a:p>
        </p:txBody>
      </p:sp>
      <p:pic>
        <p:nvPicPr>
          <p:cNvPr id="9" name="Picture 8" descr="page_2_img_1_Imag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9326880" cy="3246120"/>
          </a:xfrm>
          <a:prstGeom prst="rect">
            <a:avLst/>
          </a:prstGeom>
        </p:spPr>
      </p:pic>
      <p:pic>
        <p:nvPicPr>
          <p:cNvPr id="10" name="Picture 9" descr="page_2_img_2_Imag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63440"/>
            <a:ext cx="932688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TECHNICAL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Frontend </a:t>
            </a:r>
            <a:r>
              <a:rPr sz="1050">
                <a:solidFill>
                  <a:srgbClr val="000000"/>
                </a:solidFill>
                <a:latin typeface="Calibri"/>
              </a:rPr>
              <a:t>— React.js, Tailwind, PWA officer dashboard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Backend/API </a:t>
            </a:r>
            <a:r>
              <a:rPr sz="1050">
                <a:solidFill>
                  <a:srgbClr val="000000"/>
                </a:solidFill>
                <a:latin typeface="Calibri"/>
              </a:rPr>
              <a:t>— Node.js / Express + Tesseract OCR engine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OCR/Extraction </a:t>
            </a:r>
            <a:r>
              <a:rPr sz="1050">
                <a:solidFill>
                  <a:srgbClr val="000000"/>
                </a:solidFill>
                <a:latin typeface="Calibri"/>
              </a:rPr>
              <a:t>— Tesseract.js in-process real engine + NER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Forgery detection </a:t>
            </a:r>
            <a:r>
              <a:rPr sz="1050">
                <a:solidFill>
                  <a:srgbClr val="000000"/>
                </a:solidFill>
                <a:latin typeface="Calibri"/>
              </a:rPr>
              <a:t>— PyTorch CNN, ELA-based artifact detector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Risk scoring </a:t>
            </a:r>
            <a:r>
              <a:rPr sz="1050">
                <a:solidFill>
                  <a:srgbClr val="000000"/>
                </a:solidFill>
                <a:latin typeface="Calibri"/>
              </a:rPr>
              <a:t>— XGBoost / scikit-learn risk engine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Entity matching </a:t>
            </a:r>
            <a:r>
              <a:rPr sz="1050">
                <a:solidFill>
                  <a:srgbClr val="000000"/>
                </a:solidFill>
                <a:latin typeface="Calibri"/>
              </a:rPr>
              <a:t>— Sentence-Transformers + FAISS deduplication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Explainability </a:t>
            </a:r>
            <a:r>
              <a:rPr sz="1050">
                <a:solidFill>
                  <a:srgbClr val="000000"/>
                </a:solidFill>
                <a:latin typeface="Calibri"/>
              </a:rPr>
              <a:t>— SHAP feature contribution tree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MLOps </a:t>
            </a:r>
            <a:r>
              <a:rPr sz="1050">
                <a:solidFill>
                  <a:srgbClr val="000000"/>
                </a:solidFill>
                <a:latin typeface="Calibri"/>
              </a:rPr>
              <a:t>— MLflow &amp; automated dataset retraining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Data/Infra </a:t>
            </a:r>
            <a:r>
              <a:rPr sz="1050">
                <a:solidFill>
                  <a:srgbClr val="000000"/>
                </a:solidFill>
                <a:latin typeface="Calibri"/>
              </a:rPr>
              <a:t>— PostgreSQL, Docker, Cloudflare Zero Trust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Security </a:t>
            </a:r>
            <a:r>
              <a:rPr sz="1050">
                <a:solidFill>
                  <a:srgbClr val="000000"/>
                </a:solidFill>
                <a:latin typeface="Calibri"/>
              </a:rPr>
              <a:t>— JWT auth, AES-256 at rest, TLS 1.3 in transit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  <a:latin typeface="Arial"/>
              </a:rPr>
              <a:t>•  </a:t>
            </a:r>
            <a:r>
              <a:rPr b="1" sz="1050">
                <a:solidFill>
                  <a:srgbClr val="000000"/>
                </a:solidFill>
                <a:latin typeface="Calibri"/>
              </a:rPr>
              <a:t>Live Prototype </a:t>
            </a:r>
            <a:r>
              <a:rPr sz="1050" b="1" u="sng">
                <a:solidFill>
                  <a:srgbClr val="0066CC"/>
                </a:solidFill>
                <a:latin typeface="Calibri"/>
                <a:hlinkClick r:id="rId4"/>
              </a:rPr>
              <a:t>— https://printed-blind-lil-arch.trycloudflare.com (PWA Gateway)</a:t>
            </a:r>
          </a:p>
        </p:txBody>
      </p:sp>
      <p:pic>
        <p:nvPicPr>
          <p:cNvPr id="11" name="Picture 10" descr="page_3_img_2_Imag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828800"/>
            <a:ext cx="49377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4</a:t>
            </a:r>
          </a:p>
        </p:txBody>
      </p:sp>
      <p:pic>
        <p:nvPicPr>
          <p:cNvPr id="9" name="Picture 8" descr="page_4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384048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150876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4C99"/>
                </a:solidFill>
                <a:latin typeface="Calibri"/>
              </a:defRPr>
            </a:pPr>
            <a:r>
              <a:rPr>
                <a:latin typeface="Calibri"/>
              </a:rPr>
              <a:t>Feasibility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The technology is ready: </a:t>
            </a:r>
            <a:r>
              <a:rPr sz="1150">
                <a:solidFill>
                  <a:srgbClr val="000000"/>
                </a:solidFill>
                <a:latin typeface="Calibri"/>
              </a:rPr>
              <a:t>The AI tools needed to spot fraud and unusual patterns already exist and are widely used by banks today.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Getting good data is hard: </a:t>
            </a:r>
            <a:r>
              <a:rPr sz="1150">
                <a:solidFill>
                  <a:srgbClr val="000000"/>
                </a:solidFill>
                <a:latin typeface="Calibri"/>
              </a:rPr>
              <a:t>The AI is only as smart as the information it gets, so forcing all local government offices to upload clean, digital records will be a major challenge.</a:t>
            </a:r>
          </a:p>
          <a:p>
            <a:pPr>
              <a:spcAft>
                <a:spcPts val="400"/>
              </a:spcAft>
              <a:defRPr sz="1500" b="1">
                <a:solidFill>
                  <a:srgbClr val="004C99"/>
                </a:solidFill>
                <a:latin typeface="Calibri"/>
              </a:defRPr>
            </a:pPr>
            <a:r>
              <a:rPr>
                <a:latin typeface="Calibri"/>
              </a:rPr>
              <a:t>Viability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It saves a lot of money: </a:t>
            </a:r>
            <a:r>
              <a:rPr sz="1150">
                <a:solidFill>
                  <a:srgbClr val="000000"/>
                </a:solidFill>
                <a:latin typeface="Calibri"/>
              </a:rPr>
              <a:t>The system will easily pay for itself by stopping wasted funds, fake projects, and contractor corruption.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People will fight it: </a:t>
            </a:r>
            <a:r>
              <a:rPr sz="1150">
                <a:solidFill>
                  <a:srgbClr val="000000"/>
                </a:solidFill>
                <a:latin typeface="Calibri"/>
              </a:rPr>
              <a:t>Corrupt officials or dishonest contractors who make money off the current broken system will strongly resist using this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  <a:latin typeface="Arial"/>
              </a:rPr>
              <a:t>•  </a:t>
            </a:r>
            <a:r>
              <a:rPr b="1" sz="1488">
                <a:solidFill>
                  <a:srgbClr val="000000"/>
                </a:solidFill>
                <a:latin typeface="Calibri"/>
              </a:rPr>
              <a:t>10x Faster Clearances:
    </a:t>
            </a:r>
            <a:r>
              <a:rPr sz="1488">
                <a:solidFill>
                  <a:srgbClr val="000000"/>
                </a:solidFill>
                <a:latin typeface="Calibri"/>
              </a:rPr>
              <a:t>Auto-approves low-risk projects in under 48 hours instead of taking 15–30 days.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  <a:latin typeface="Arial"/>
              </a:rPr>
              <a:t>•  </a:t>
            </a:r>
            <a:r>
              <a:rPr b="1" sz="1488">
                <a:solidFill>
                  <a:srgbClr val="000000"/>
                </a:solidFill>
                <a:latin typeface="Calibri"/>
              </a:rPr>
              <a:t>Targeted Officer Review:
    </a:t>
            </a:r>
            <a:r>
              <a:rPr sz="1488">
                <a:solidFill>
                  <a:srgbClr val="000000"/>
                </a:solidFill>
                <a:latin typeface="Calibri"/>
              </a:rPr>
              <a:t>Uses risk scoring so officials only spend 3–5 minutes reviewing high -risk files.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  <a:latin typeface="Arial"/>
              </a:rPr>
              <a:t>•  </a:t>
            </a:r>
            <a:r>
              <a:rPr b="1" sz="1488">
                <a:solidFill>
                  <a:srgbClr val="000000"/>
                </a:solidFill>
                <a:latin typeface="Calibri"/>
              </a:rPr>
              <a:t>Total Forgery Detection:
    </a:t>
            </a:r>
            <a:r>
              <a:rPr sz="1488">
                <a:solidFill>
                  <a:srgbClr val="000000"/>
                </a:solidFill>
                <a:latin typeface="Calibri"/>
              </a:rPr>
              <a:t>Scans every single bill and certificate for tampering, leaving no blind spots.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  <a:latin typeface="Arial"/>
              </a:rPr>
              <a:t>•  </a:t>
            </a:r>
            <a:r>
              <a:rPr b="1" sz="1488">
                <a:solidFill>
                  <a:srgbClr val="000000"/>
                </a:solidFill>
                <a:latin typeface="Calibri"/>
              </a:rPr>
              <a:t>Prevents Duplicate Funding:
    </a:t>
            </a:r>
            <a:r>
              <a:rPr sz="1488">
                <a:solidFill>
                  <a:srgbClr val="000000"/>
                </a:solidFill>
                <a:latin typeface="Calibri"/>
              </a:rPr>
              <a:t>Cross-checks department data to stop the same work from being billed under multiple schemes.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  <a:latin typeface="Arial"/>
              </a:rPr>
              <a:t>•  </a:t>
            </a:r>
            <a:r>
              <a:rPr b="1" sz="1488">
                <a:solidFill>
                  <a:srgbClr val="000000"/>
                </a:solidFill>
                <a:latin typeface="Calibri"/>
              </a:rPr>
              <a:t>Continuous Learning:
    </a:t>
            </a:r>
            <a:r>
              <a:rPr sz="1488">
                <a:solidFill>
                  <a:srgbClr val="000000"/>
                </a:solidFill>
                <a:latin typeface="Calibri"/>
              </a:rPr>
              <a:t>Updates automatically from officer feedback to catch new fraud patterns.</a:t>
            </a:r>
          </a:p>
        </p:txBody>
      </p:sp>
      <p:pic>
        <p:nvPicPr>
          <p:cNvPr id="10" name="Picture 9" descr="page_5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83080"/>
            <a:ext cx="406908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latin typeface="Times New Roman"/>
              </a:rP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u="sng">
                <a:solidFill>
                  <a:srgbClr val="004C99"/>
                </a:solidFill>
                <a:latin typeface="Calibri"/>
              </a:defRPr>
            </a:pPr>
            <a:r>
              <a:rPr>
                <a:latin typeface="Calibri"/>
              </a:rPr>
              <a:t>Policy &amp; government frameworks (2 sources)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Right to Public Services (RTS) Act — turnaround benchmarks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MeitY Digital India / e-Governance AI adoption guidelines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300" b="1" u="sng">
                <a:solidFill>
                  <a:srgbClr val="004C99"/>
                </a:solidFill>
                <a:latin typeface="Calibri"/>
              </a:defRPr>
            </a:pPr>
            <a:r>
              <a:rPr>
                <a:latin typeface="Calibri"/>
              </a:rPr>
              <a:t>Technical research (2 sources)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CNN-based document forgery detection (ELA methods)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</a:t>
            </a:r>
            <a:r>
              <a:rPr sz="1150">
                <a:solidFill>
                  <a:srgbClr val="000000"/>
                </a:solidFill>
                <a:latin typeface="Calibri"/>
              </a:rPr>
              <a:t>SHAP — SHapley Additive exPlanations, explainability framework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300" b="1" u="sng">
                <a:solidFill>
                  <a:srgbClr val="004C99"/>
                </a:solidFill>
                <a:latin typeface="Calibri"/>
              </a:defRPr>
            </a:pPr>
            <a:r>
              <a:rPr>
                <a:latin typeface="Calibri"/>
              </a:rPr>
              <a:t>Prototype &amp; Live Deployment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</a:t>
            </a:r>
            <a:r>
              <a:rPr b="1" sz="1150">
                <a:solidFill>
                  <a:srgbClr val="000000"/>
                </a:solidFill>
                <a:latin typeface="Calibri"/>
              </a:rPr>
              <a:t>Live Prototype: </a:t>
            </a:r>
            <a:r>
              <a:rPr sz="1150" b="1" u="sng">
                <a:solidFill>
                  <a:srgbClr val="0066CC"/>
                </a:solidFill>
                <a:latin typeface="Calibri"/>
                <a:hlinkClick r:id="rId4"/>
              </a:rPr>
              <a:t>https://printed-blind-lil-arch.trycloudflare.com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  <a:latin typeface="Arial"/>
              </a:rPr>
              <a:t>•  </a:t>
            </a:r>
            <a:r>
              <a:rPr b="1" sz="1150">
                <a:solidFill>
                  <a:srgbClr val="000000"/>
                </a:solidFill>
                <a:latin typeface="Calibri"/>
              </a:rPr>
              <a:t>Source Code (GitHub): </a:t>
            </a:r>
            <a:r>
              <a:rPr sz="1150" b="1" u="sng">
                <a:solidFill>
                  <a:srgbClr val="0066CC"/>
                </a:solidFill>
                <a:latin typeface="Calibri"/>
                <a:hlinkClick r:id="rId5"/>
              </a:rPr>
              <a:t>https://github.com/kushalshahbtech2025-coder/autogov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645920"/>
            <a:ext cx="4389120" cy="365760"/>
          </a:xfrm>
          <a:prstGeom prst="rect">
            <a:avLst/>
          </a:prstGeom>
          <a:solidFill>
            <a:srgbClr val="006680"/>
          </a:solidFill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END TO END WORKFLOW</a:t>
            </a:r>
          </a:p>
        </p:txBody>
      </p:sp>
      <p:pic>
        <p:nvPicPr>
          <p:cNvPr id="11" name="Picture 10" descr="page_6_img_2_Image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2194560"/>
            <a:ext cx="448056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