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_logo_perfec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73152"/>
            <a:ext cx="2240280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2004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973835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>
                <a:latin typeface="Calibri"/>
              </a:defRPr>
            </a:pPr>
            <a:r>
              <a:rPr b="1" sz="1600">
                <a:solidFill>
                  <a:srgbClr val="000000"/>
                </a:solidFill>
              </a:rPr>
              <a:t>•  </a:t>
            </a:r>
            <a:r>
              <a:rPr b="1" sz="1600">
                <a:solidFill>
                  <a:srgbClr val="000000"/>
                </a:solidFill>
              </a:rPr>
              <a:t>Problem Statement ID – </a:t>
            </a:r>
            <a:r>
              <a:rPr b="0" sz="1600">
                <a:solidFill>
                  <a:srgbClr val="212529"/>
                </a:solidFill>
              </a:rPr>
              <a:t>SIH26102</a:t>
            </a:r>
          </a:p>
          <a:p>
            <a:pPr>
              <a:spcAft>
                <a:spcPts val="1600"/>
              </a:spcAft>
              <a:defRPr>
                <a:latin typeface="Calibri"/>
              </a:defRPr>
            </a:pPr>
            <a:r>
              <a:rPr b="1" sz="1600">
                <a:solidFill>
                  <a:srgbClr val="000000"/>
                </a:solidFill>
              </a:rPr>
              <a:t>•  </a:t>
            </a:r>
            <a:r>
              <a:rPr b="1" sz="1600">
                <a:solidFill>
                  <a:srgbClr val="000000"/>
                </a:solidFill>
              </a:rPr>
              <a:t>Problem Statement Title- </a:t>
            </a:r>
            <a:r>
              <a:rPr b="0" sz="1600">
                <a:solidFill>
                  <a:srgbClr val="212529"/>
                </a:solidFill>
              </a:rPr>
              <a:t>AI-powered system to detect anomalies, fraud, and inefficiencies in MPLAD Scheme implementation and e-Governance.</a:t>
            </a:r>
          </a:p>
          <a:p>
            <a:pPr>
              <a:spcAft>
                <a:spcPts val="1600"/>
              </a:spcAft>
              <a:defRPr>
                <a:latin typeface="Calibri"/>
              </a:defRPr>
            </a:pPr>
            <a:r>
              <a:rPr b="1" sz="1600">
                <a:solidFill>
                  <a:srgbClr val="000000"/>
                </a:solidFill>
              </a:rPr>
              <a:t>•  </a:t>
            </a:r>
            <a:r>
              <a:rPr b="1" sz="1600">
                <a:solidFill>
                  <a:srgbClr val="000000"/>
                </a:solidFill>
              </a:rPr>
              <a:t>Theme- </a:t>
            </a:r>
            <a:r>
              <a:rPr b="0" sz="1600">
                <a:solidFill>
                  <a:srgbClr val="212529"/>
                </a:solidFill>
              </a:rPr>
              <a:t>Smart Governance &amp; Smart Automation</a:t>
            </a:r>
          </a:p>
          <a:p>
            <a:pPr>
              <a:spcAft>
                <a:spcPts val="1600"/>
              </a:spcAft>
              <a:defRPr>
                <a:latin typeface="Calibri"/>
              </a:defRPr>
            </a:pPr>
            <a:r>
              <a:rPr b="1" sz="1600">
                <a:solidFill>
                  <a:srgbClr val="000000"/>
                </a:solidFill>
              </a:rPr>
              <a:t>•  </a:t>
            </a:r>
            <a:r>
              <a:rPr b="1" sz="1600">
                <a:solidFill>
                  <a:srgbClr val="000000"/>
                </a:solidFill>
              </a:rPr>
              <a:t>PS Category- </a:t>
            </a:r>
            <a:r>
              <a:rPr b="0" sz="1600">
                <a:solidFill>
                  <a:srgbClr val="212529"/>
                </a:solidFill>
              </a:rPr>
              <a:t>Software</a:t>
            </a:r>
          </a:p>
          <a:p>
            <a:pPr>
              <a:spcAft>
                <a:spcPts val="1600"/>
              </a:spcAft>
              <a:defRPr>
                <a:latin typeface="Calibri"/>
              </a:defRPr>
            </a:pPr>
            <a:r>
              <a:rPr b="1" sz="1600">
                <a:solidFill>
                  <a:srgbClr val="000000"/>
                </a:solidFill>
              </a:rPr>
              <a:t>•  </a:t>
            </a:r>
            <a:r>
              <a:rPr b="1" sz="1600">
                <a:solidFill>
                  <a:srgbClr val="000000"/>
                </a:solidFill>
              </a:rPr>
              <a:t>Team ID- </a:t>
            </a:r>
            <a:r>
              <a:rPr b="0" sz="1600">
                <a:solidFill>
                  <a:srgbClr val="212529"/>
                </a:solidFill>
              </a:rPr>
              <a:t>T049</a:t>
            </a:r>
          </a:p>
          <a:p>
            <a:pPr>
              <a:spcAft>
                <a:spcPts val="1600"/>
              </a:spcAft>
              <a:defRPr>
                <a:latin typeface="Calibri"/>
              </a:defRPr>
            </a:pPr>
            <a:r>
              <a:rPr b="1" sz="1600">
                <a:solidFill>
                  <a:srgbClr val="000000"/>
                </a:solidFill>
              </a:rPr>
              <a:t>•  </a:t>
            </a:r>
            <a:r>
              <a:rPr b="1" sz="1600">
                <a:solidFill>
                  <a:srgbClr val="000000"/>
                </a:solidFill>
              </a:rPr>
              <a:t>Team Name - </a:t>
            </a:r>
            <a:r>
              <a:rPr b="0" sz="1600">
                <a:solidFill>
                  <a:srgbClr val="212529"/>
                </a:solidFill>
              </a:rPr>
              <a:t>Team Innova8 (AutoGov+)</a:t>
            </a:r>
          </a:p>
        </p:txBody>
      </p:sp>
      <p:pic>
        <p:nvPicPr>
          <p:cNvPr id="6" name="Picture 5" descr="bulb_perfe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3749039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64224"/>
            <a:ext cx="12191999" cy="493776"/>
          </a:xfrm>
          <a:prstGeom prst="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64224"/>
            <a:ext cx="12191999" cy="493776"/>
          </a:xfrm>
          <a:prstGeom prst="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1908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pic>
        <p:nvPicPr>
          <p:cNvPr id="5" name="Picture 4" descr="team_logo_circl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1051560" cy="1051560"/>
          </a:xfrm>
          <a:prstGeom prst="rect">
            <a:avLst/>
          </a:prstGeom>
        </p:spPr>
      </p:pic>
      <p:pic>
        <p:nvPicPr>
          <p:cNvPr id="6" name="Picture 5" descr="sih_logo_perfe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73152"/>
            <a:ext cx="2240280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457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973835"/>
                </a:solidFill>
                <a:latin typeface="Calibri"/>
              </a:defRPr>
            </a:pPr>
            <a:r>
              <a:t>AUTOGOV+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973835"/>
                </a:solidFill>
                <a:latin typeface="Calibri"/>
              </a:defRPr>
            </a:pPr>
            <a:r>
              <a:t>AI-Powered Automated Document Verification &amp; Adjudication for e-Governance &amp; MPLAD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5486400" cy="457200"/>
          </a:xfrm>
          <a:prstGeom prst="roundRect">
            <a:avLst/>
          </a:prstGeom>
          <a:solidFill>
            <a:srgbClr val="C87A76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pic>
        <p:nvPicPr>
          <p:cNvPr id="10" name="Picture 9" descr="icon_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664208"/>
            <a:ext cx="43891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1627632"/>
            <a:ext cx="4937760" cy="62179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b="1" sz="1200">
                <a:solidFill>
                  <a:srgbClr val="973835"/>
                </a:solidFill>
                <a:latin typeface="Calibri"/>
              </a:rPr>
              <a:t>Mobile &amp; Web Officer Cockpit: </a:t>
            </a:r>
            <a:r>
              <a:rPr sz="1100">
                <a:solidFill>
                  <a:srgbClr val="212529"/>
                </a:solidFill>
                <a:latin typeface="Calibri"/>
              </a:rPr>
              <a:t>Responsive PWA for verification caseworkers with live camera ingestion &amp; split-screen adjudication.</a:t>
            </a:r>
          </a:p>
        </p:txBody>
      </p:sp>
      <p:pic>
        <p:nvPicPr>
          <p:cNvPr id="12" name="Picture 11" descr="icon_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304288"/>
            <a:ext cx="438912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2267712"/>
            <a:ext cx="4937760" cy="62179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b="1" sz="1200">
                <a:solidFill>
                  <a:srgbClr val="973835"/>
                </a:solidFill>
                <a:latin typeface="Calibri"/>
              </a:rPr>
              <a:t>Multi-Document Geometric AI: </a:t>
            </a:r>
            <a:r>
              <a:rPr sz="1100">
                <a:solidFill>
                  <a:srgbClr val="212529"/>
                </a:solidFill>
                <a:latin typeface="Calibri"/>
              </a:rPr>
              <a:t>Deep geometric OCR &amp; seal validation across certificates, invoices &amp; NOCs, not single-image verdicts.</a:t>
            </a:r>
          </a:p>
        </p:txBody>
      </p:sp>
      <p:pic>
        <p:nvPicPr>
          <p:cNvPr id="14" name="Picture 13" descr="icon_meas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944367"/>
            <a:ext cx="438912" cy="4389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2907791"/>
            <a:ext cx="4937760" cy="62179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b="1" sz="1200">
                <a:solidFill>
                  <a:srgbClr val="973835"/>
                </a:solidFill>
                <a:latin typeface="Calibri"/>
              </a:rPr>
              <a:t>Pixel-Level CNN Forgery Engine: </a:t>
            </a:r>
            <a:r>
              <a:rPr sz="1100">
                <a:solidFill>
                  <a:srgbClr val="212529"/>
                </a:solidFill>
                <a:latin typeface="Calibri"/>
              </a:rPr>
              <a:t>PyTorch Error Level Analysis (ELA) detects spliced text, altered amounts, and forged digital stamps.</a:t>
            </a:r>
          </a:p>
        </p:txBody>
      </p:sp>
      <p:pic>
        <p:nvPicPr>
          <p:cNvPr id="16" name="Picture 15" descr="icon_rep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584448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3547872"/>
            <a:ext cx="4937760" cy="62179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b="1" sz="1200">
                <a:solidFill>
                  <a:srgbClr val="973835"/>
                </a:solidFill>
                <a:latin typeface="Calibri"/>
              </a:rPr>
              <a:t>Explainable Adjudication &amp; QR Trail: </a:t>
            </a:r>
            <a:r>
              <a:rPr sz="1100">
                <a:solidFill>
                  <a:srgbClr val="212529"/>
                </a:solidFill>
                <a:latin typeface="Calibri"/>
              </a:rPr>
              <a:t>Generates court-admissible SHAP waterfall reports, tamper-proof logs, and QR-verifiable certificates.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126480" y="1051560"/>
          <a:ext cx="56692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017520"/>
              </a:tblGrid>
              <a:tr h="62179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973835"/>
                          </a:solidFill>
                          <a:latin typeface="Calibri"/>
                        </a:defRPr>
                      </a:pPr>
                      <a:r>
                        <a:t>Problem today</a:t>
                      </a:r>
                    </a:p>
                  </a:txBody>
                  <a:tcPr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973835"/>
                          </a:solidFill>
                          <a:latin typeface="Calibri"/>
                        </a:defRPr>
                      </a:pPr>
                      <a:r>
                        <a:t>How our solution fixes it</a:t>
                      </a:r>
                    </a:p>
                  </a:txBody>
                  <a:tcPr>
                    <a:solidFill>
                      <a:srgbClr val="FDF5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Inconsistent manual grading &amp; 15-30 day casework backlog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73835"/>
                          </a:solidFill>
                          <a:latin typeface="Calibri"/>
                        </a:defRPr>
                      </a:pPr>
                      <a:r>
                        <a:t>Instant automated triage: 82% clean dossiers auto-cleared in &lt;4.8s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Spliced signatures &amp; altered figures slip through undetected</a:t>
                      </a:r>
                    </a:p>
                  </a:txBody>
                  <a:tcPr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73835"/>
                          </a:solidFill>
                          <a:latin typeface="Calibri"/>
                        </a:defRPr>
                      </a:pPr>
                      <a:r>
                        <a:t>PyTorch ELA CNN detects pixel-level tampering &amp; unauthorized edits</a:t>
                      </a:r>
                    </a:p>
                  </a:txBody>
                  <a:tcPr>
                    <a:solidFill>
                      <a:srgbClr val="FDF5F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Cross-scheme duplicate billing &amp; ghost contractors drain funds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73835"/>
                          </a:solidFill>
                          <a:latin typeface="Calibri"/>
                        </a:defRPr>
                      </a:pPr>
                      <a:r>
                        <a:t>FAISS vector matching flags duplicate invoices across state &amp; MPLAD funds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Black-box AI rejections leave citizens without legal explanation</a:t>
                      </a:r>
                    </a:p>
                  </a:txBody>
                  <a:tcPr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73835"/>
                          </a:solidFill>
                          <a:latin typeface="Calibri"/>
                        </a:defRPr>
                      </a:pPr>
                      <a:r>
                        <a:t>Transparent SHAP waterfall feature attributions with downloadable QR audit trail</a:t>
                      </a:r>
                    </a:p>
                  </a:txBody>
                  <a:tcPr>
                    <a:solidFill>
                      <a:srgbClr val="FDF5F5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65760" y="4343400"/>
            <a:ext cx="2194560" cy="1874519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2011680" cy="384048"/>
          </a:xfrm>
          <a:prstGeom prst="roundRect">
            <a:avLst/>
          </a:prstGeom>
          <a:solidFill>
            <a:srgbClr val="C8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1. Capture / Ingest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12529"/>
                </a:solidFill>
                <a:latin typeface="Calibri"/>
              </a:defRPr>
            </a:pPr>
            <a:r>
              <a:t>Citizen or caseworker uploads documents via camera/scanner with auto-deskewing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70048" y="4343400"/>
            <a:ext cx="2194560" cy="1874519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61488" y="4434840"/>
            <a:ext cx="2011680" cy="384048"/>
          </a:xfrm>
          <a:prstGeom prst="roundRect">
            <a:avLst/>
          </a:prstGeom>
          <a:solidFill>
            <a:srgbClr val="C8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2. OCR &amp; Geometry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48463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12529"/>
                </a:solidFill>
                <a:latin typeface="Calibri"/>
              </a:defRPr>
            </a:pPr>
            <a:r>
              <a:t>Zero-PII bounding box alignment &amp; statutory document layout verification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74336" y="4343400"/>
            <a:ext cx="2194560" cy="1874519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65776" y="4434840"/>
            <a:ext cx="2011680" cy="384048"/>
          </a:xfrm>
          <a:prstGeom prst="roundRect">
            <a:avLst/>
          </a:prstGeom>
          <a:solidFill>
            <a:srgbClr val="C8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3. Detect &amp; Deduplicate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5776" y="48463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12529"/>
                </a:solidFill>
                <a:latin typeface="Calibri"/>
              </a:defRPr>
            </a:pPr>
            <a:r>
              <a:t>PyTorch ELA CNN spots tampering; FAISS checks cross-scheme duplicate claims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78624" y="4343400"/>
            <a:ext cx="2194560" cy="1874519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70064" y="4434840"/>
            <a:ext cx="2011680" cy="384048"/>
          </a:xfrm>
          <a:prstGeom prst="roundRect">
            <a:avLst/>
          </a:prstGeom>
          <a:solidFill>
            <a:srgbClr val="C8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4. Risk Scoring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8463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12529"/>
                </a:solidFill>
                <a:latin typeface="Calibri"/>
              </a:defRPr>
            </a:pPr>
            <a:r>
              <a:t>XGBoost ensemble classifies risk (0-100): Auto-Clear vs Officer Scrutiny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2912" y="4343400"/>
            <a:ext cx="2194560" cy="1874519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74352" y="4434840"/>
            <a:ext cx="2011680" cy="384048"/>
          </a:xfrm>
          <a:prstGeom prst="roundRect">
            <a:avLst/>
          </a:prstGeom>
          <a:solidFill>
            <a:srgbClr val="C8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5. Adjudication &amp; QR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48463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12529"/>
                </a:solidFill>
                <a:latin typeface="Calibri"/>
              </a:defRPr>
            </a:pPr>
            <a:r>
              <a:t>Explainable SHAP report generated with verifiable digital clearance QR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logo_circl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1051560" cy="1051560"/>
          </a:xfrm>
          <a:prstGeom prst="rect">
            <a:avLst/>
          </a:prstGeom>
        </p:spPr>
      </p:pic>
      <p:pic>
        <p:nvPicPr>
          <p:cNvPr id="4" name="Picture 3" descr="sih_logo_perfe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73152"/>
            <a:ext cx="224028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973835"/>
                </a:solidFill>
                <a:latin typeface="Calibri"/>
              </a:defRPr>
            </a:pPr>
            <a: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64224"/>
            <a:ext cx="12191999" cy="493776"/>
          </a:xfrm>
          <a:prstGeom prst="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Calibri"/>
              </a:defRPr>
            </a:pPr>
            <a:r>
              <a:t>Tech Stack 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100">
                <a:solidFill>
                  <a:srgbClr val="973835"/>
                </a:solidFill>
                <a:latin typeface="Calibri"/>
              </a:defRPr>
            </a:pPr>
            <a:r>
              <a:t>React 19 / TypeScript</a:t>
            </a:r>
          </a:p>
          <a:p>
            <a:pPr>
              <a:defRPr sz="950">
                <a:solidFill>
                  <a:srgbClr val="646464"/>
                </a:solidFill>
                <a:latin typeface="Calibri"/>
              </a:defRPr>
            </a:pPr>
            <a:r>
              <a:t>Officer Dashboard &amp; Citizen PWA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05740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100">
                <a:solidFill>
                  <a:srgbClr val="973835"/>
                </a:solidFill>
                <a:latin typeface="Calibri"/>
              </a:defRPr>
            </a:pPr>
            <a:r>
              <a:t>FastAPI / Python</a:t>
            </a:r>
          </a:p>
          <a:p>
            <a:pPr>
              <a:defRPr sz="950">
                <a:solidFill>
                  <a:srgbClr val="646464"/>
                </a:solidFill>
                <a:latin typeface="Calibri"/>
              </a:defRPr>
            </a:pPr>
            <a:r>
              <a:t>Pipeline Ingestion REST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100">
                <a:solidFill>
                  <a:srgbClr val="973835"/>
                </a:solidFill>
                <a:latin typeface="Calibri"/>
              </a:defRPr>
            </a:pPr>
            <a:r>
              <a:t>OpenCV</a:t>
            </a:r>
          </a:p>
          <a:p>
            <a:pPr>
              <a:defRPr sz="950">
                <a:solidFill>
                  <a:srgbClr val="646464"/>
                </a:solidFill>
                <a:latin typeface="Calibri"/>
              </a:defRPr>
            </a:pPr>
            <a:r>
              <a:t>Geometric Deskew &amp; Stamp Alignment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4612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100">
                <a:solidFill>
                  <a:srgbClr val="973835"/>
                </a:solidFill>
                <a:latin typeface="Calibri"/>
              </a:defRPr>
            </a:pPr>
            <a:r>
              <a:t>PyTorch (ELA CNN)</a:t>
            </a:r>
          </a:p>
          <a:p>
            <a:pPr>
              <a:defRPr sz="950">
                <a:solidFill>
                  <a:srgbClr val="646464"/>
                </a:solidFill>
                <a:latin typeface="Calibri"/>
              </a:defRPr>
            </a:pPr>
            <a:r>
              <a:t>Pixel-Level Document Forgery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8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100">
                <a:solidFill>
                  <a:srgbClr val="973835"/>
                </a:solidFill>
                <a:latin typeface="Calibri"/>
              </a:defRPr>
            </a:pPr>
            <a:r>
              <a:t>XGBoost</a:t>
            </a:r>
          </a:p>
          <a:p>
            <a:pPr>
              <a:defRPr sz="950">
                <a:solidFill>
                  <a:srgbClr val="646464"/>
                </a:solidFill>
                <a:latin typeface="Calibri"/>
              </a:defRPr>
            </a:pPr>
            <a:r>
              <a:t>Multi-Signal Adjudication Risk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43484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100">
                <a:solidFill>
                  <a:srgbClr val="973835"/>
                </a:solidFill>
                <a:latin typeface="Calibri"/>
              </a:defRPr>
            </a:pPr>
            <a:r>
              <a:t>FAISS / SBERT</a:t>
            </a:r>
          </a:p>
          <a:p>
            <a:pPr>
              <a:defRPr sz="950">
                <a:solidFill>
                  <a:srgbClr val="646464"/>
                </a:solidFill>
                <a:latin typeface="Calibri"/>
              </a:defRPr>
            </a:pPr>
            <a:r>
              <a:t>Sub-second Cross-Scheme Deduplication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02920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100">
                <a:solidFill>
                  <a:srgbClr val="973835"/>
                </a:solidFill>
                <a:latin typeface="Calibri"/>
              </a:defRPr>
            </a:pPr>
            <a:r>
              <a:t>PostgreSQL</a:t>
            </a:r>
          </a:p>
          <a:p>
            <a:pPr>
              <a:defRPr sz="950">
                <a:solidFill>
                  <a:srgbClr val="646464"/>
                </a:solidFill>
                <a:latin typeface="Calibri"/>
              </a:defRPr>
            </a:pPr>
            <a:r>
              <a:t>DPI Registry &amp; Tamper-Proof Audit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623560"/>
            <a:ext cx="2468880" cy="530352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100">
                <a:solidFill>
                  <a:srgbClr val="973835"/>
                </a:solidFill>
                <a:latin typeface="Calibri"/>
              </a:defRPr>
            </a:pPr>
            <a:r>
              <a:t>SHAP</a:t>
            </a:r>
          </a:p>
          <a:p>
            <a:pPr>
              <a:defRPr sz="950">
                <a:solidFill>
                  <a:srgbClr val="646464"/>
                </a:solidFill>
                <a:latin typeface="Calibri"/>
              </a:defRPr>
            </a:pPr>
            <a:r>
              <a:t>Court-Admissible Explainable AI Waterfall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1097280"/>
            <a:ext cx="621792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5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54680" y="1188720"/>
            <a:ext cx="5943600" cy="411480"/>
          </a:xfrm>
          <a:prstGeom prst="roundRect">
            <a:avLst/>
          </a:prstGeom>
          <a:solidFill>
            <a:srgbClr val="23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t>1   Approach 1 – Document Computer Vision &amp; Geometry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1691640"/>
            <a:ext cx="1417320" cy="1691640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235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35FAF"/>
                </a:solidFill>
                <a:latin typeface="Calibri"/>
              </a:defRPr>
            </a:pPr>
            <a:r>
              <a:t>Input Normalization</a:t>
            </a:r>
          </a:p>
          <a:p>
            <a:pPr algn="ctr">
              <a:defRPr sz="950">
                <a:solidFill>
                  <a:srgbClr val="212529"/>
                </a:solidFill>
                <a:latin typeface="Calibri"/>
              </a:defRPr>
            </a:pPr>
            <a:r>
              <a:t>Auto-deskewing, contrast enhancement &amp; unsharp masking of mobile uploads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1691640"/>
            <a:ext cx="1417320" cy="1691640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235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35FAF"/>
                </a:solidFill>
                <a:latin typeface="Calibri"/>
              </a:defRPr>
            </a:pPr>
            <a:r>
              <a:t>ELA CNN Forgery Check</a:t>
            </a:r>
          </a:p>
          <a:p>
            <a:pPr algn="ctr">
              <a:defRPr sz="950">
                <a:solidFill>
                  <a:srgbClr val="212529"/>
                </a:solidFill>
                <a:latin typeface="Calibri"/>
              </a:defRPr>
            </a:pPr>
            <a:r>
              <a:t>Pixel-level Error Level Analysis detecting cut-paste signatures &amp; modified 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17336" y="1691640"/>
            <a:ext cx="1417320" cy="1691640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235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35FAF"/>
                </a:solidFill>
                <a:latin typeface="Calibri"/>
              </a:defRPr>
            </a:pPr>
            <a:r>
              <a:t>Zero-PII Geometry Match</a:t>
            </a:r>
          </a:p>
          <a:p>
            <a:pPr algn="ctr">
              <a:defRPr sz="950">
                <a:solidFill>
                  <a:srgbClr val="212529"/>
                </a:solidFill>
                <a:latin typeface="Calibri"/>
              </a:defRPr>
            </a:pPr>
            <a:r>
              <a:t>Aligns official seals and bounding boxes against statutory scheme templates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98664" y="1691640"/>
            <a:ext cx="1417320" cy="1691640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235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35FAF"/>
                </a:solidFill>
                <a:latin typeface="Calibri"/>
              </a:defRPr>
            </a:pPr>
            <a:r>
              <a:t>Geometric Verdict</a:t>
            </a:r>
          </a:p>
          <a:p>
            <a:pPr algn="ctr">
              <a:defRPr sz="950">
                <a:solidFill>
                  <a:srgbClr val="212529"/>
                </a:solidFill>
                <a:latin typeface="Calibri"/>
              </a:defRPr>
            </a:pPr>
            <a:r>
              <a:t>Instant label: Clean authentic layout vs Spliced/Forged anomaly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3703320"/>
            <a:ext cx="621792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54680" y="3794760"/>
            <a:ext cx="5943600" cy="411480"/>
          </a:xfrm>
          <a:prstGeom prst="roundRect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t>2   Approach 2 – Cross-Scheme Semantic Matching &amp; Deduplication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54680" y="4297680"/>
            <a:ext cx="1417320" cy="16916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38741"/>
                </a:solidFill>
                <a:latin typeface="Calibri"/>
              </a:defRPr>
            </a:pPr>
            <a:r>
              <a:t>DPI Data Ingestion</a:t>
            </a:r>
          </a:p>
          <a:p>
            <a:pPr algn="ctr">
              <a:defRPr sz="950">
                <a:solidFill>
                  <a:srgbClr val="212529"/>
                </a:solidFill>
                <a:latin typeface="Calibri"/>
              </a:defRPr>
            </a:pPr>
            <a:r>
              <a:t>Extracts contractor GSTN, project coordinates &amp; invoice line items via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6008" y="4297680"/>
            <a:ext cx="1417320" cy="16916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38741"/>
                </a:solidFill>
                <a:latin typeface="Calibri"/>
              </a:defRPr>
            </a:pPr>
            <a:r>
              <a:t>SBERT Dense Embeddings</a:t>
            </a:r>
          </a:p>
          <a:p>
            <a:pPr algn="ctr">
              <a:defRPr sz="950">
                <a:solidFill>
                  <a:srgbClr val="212529"/>
                </a:solidFill>
                <a:latin typeface="Calibri"/>
              </a:defRPr>
            </a:pPr>
            <a:r>
              <a:t>Sentence-Transformers generate 384-dim semantic representations of contracts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17336" y="4297680"/>
            <a:ext cx="1417320" cy="16916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38741"/>
                </a:solidFill>
                <a:latin typeface="Calibri"/>
              </a:defRPr>
            </a:pPr>
            <a:r>
              <a:t>FAISS Vector Index</a:t>
            </a:r>
          </a:p>
          <a:p>
            <a:pPr algn="ctr">
              <a:defRPr sz="950">
                <a:solidFill>
                  <a:srgbClr val="212529"/>
                </a:solidFill>
                <a:latin typeface="Calibri"/>
              </a:defRPr>
            </a:pPr>
            <a:r>
              <a:t>Sub-millisecond cosine search across municipal, state &amp; MPLAD registries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98664" y="4297680"/>
            <a:ext cx="1417320" cy="16916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38741"/>
                </a:solidFill>
                <a:latin typeface="Calibri"/>
              </a:defRPr>
            </a:pPr>
            <a:r>
              <a:t>Deduplication Output</a:t>
            </a:r>
          </a:p>
          <a:p>
            <a:pPr algn="ctr">
              <a:defRPr sz="950">
                <a:solidFill>
                  <a:srgbClr val="212529"/>
                </a:solidFill>
                <a:latin typeface="Calibri"/>
              </a:defRPr>
            </a:pPr>
            <a:r>
              <a:t>Catches duplicate billing, ghost contractors, and overlapping project sites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0" y="1097280"/>
            <a:ext cx="2468880" cy="5029200"/>
          </a:xfrm>
          <a:prstGeom prst="roundRect">
            <a:avLst/>
          </a:prstGeom>
          <a:solidFill>
            <a:srgbClr val="FDF5F5"/>
          </a:solidFill>
          <a:ln w="1905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55480" y="1234440"/>
            <a:ext cx="2194560" cy="411480"/>
          </a:xfrm>
          <a:prstGeom prst="round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  <a:latin typeface="Calibri"/>
              </a:defRPr>
            </a:pPr>
            <a:r>
              <a:t>Final Output: Officer Cockpit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55480" y="1783080"/>
            <a:ext cx="2194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50">
                <a:solidFill>
                  <a:srgbClr val="973835"/>
                </a:solidFill>
                <a:latin typeface="Calibri"/>
              </a:defRPr>
            </a:pPr>
            <a:r>
              <a:t>Risk Scoring Gauge (0–100)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Predictive risk probability based on 14 weighted document integrity signals.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2606040"/>
            <a:ext cx="2194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50">
                <a:solidFill>
                  <a:srgbClr val="973835"/>
                </a:solidFill>
                <a:latin typeface="Calibri"/>
              </a:defRPr>
            </a:pPr>
            <a:r>
              <a:t>Explainable SHAP Waterfall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Positive and negative feature contributions explaining why any case was flagged.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5480" y="3429000"/>
            <a:ext cx="2194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50">
                <a:solidFill>
                  <a:srgbClr val="973835"/>
                </a:solidFill>
                <a:latin typeface="Calibri"/>
              </a:defRPr>
            </a:pPr>
            <a:r>
              <a:t>Split-Screen Review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Original document vs ELA heatmaps with bounding boxes highlighting anomalies.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55480" y="4251960"/>
            <a:ext cx="2194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50">
                <a:solidFill>
                  <a:srgbClr val="973835"/>
                </a:solidFill>
                <a:latin typeface="Calibri"/>
              </a:defRPr>
            </a:pPr>
            <a:r>
              <a:t>Batch Decision Engine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Autonomous bulk-clearance for clean cases (risk &lt; 20); targeted scrutiny for outliers.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55480" y="5074920"/>
            <a:ext cx="21945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50">
                <a:solidFill>
                  <a:srgbClr val="973835"/>
                </a:solidFill>
                <a:latin typeface="Calibri"/>
              </a:defRPr>
            </a:pPr>
            <a:r>
              <a:t>Verifiable Digital Clearance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Instant digitally stamped approval certificate with tamper-proof QR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logo_circl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1051560" cy="1051560"/>
          </a:xfrm>
          <a:prstGeom prst="rect">
            <a:avLst/>
          </a:prstGeom>
        </p:spPr>
      </p:pic>
      <p:pic>
        <p:nvPicPr>
          <p:cNvPr id="4" name="Picture 3" descr="sih_logo_perfe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73152"/>
            <a:ext cx="224028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973835"/>
                </a:solidFill>
                <a:latin typeface="Calibri"/>
              </a:defRPr>
            </a:pPr>
            <a: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64224"/>
            <a:ext cx="12191999" cy="493776"/>
          </a:xfrm>
          <a:prstGeom prst="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8686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A production-ready, lightweight e-governance engine designed for immediate plug-and-play integration with state citizen portals and MPLADS monitoring dashboards.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8686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529"/>
                </a:solidFill>
                <a:latin typeface="Calibri"/>
              </a:defRPr>
            </a:pPr>
            <a:r>
              <a:t>Technically feasible, high-throughput pipeline operating at &lt; ₹2.50 per clearance, slashing administrative turnaround from 25 days to under 5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72768"/>
            <a:ext cx="3383280" cy="4645152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235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108960" cy="384048"/>
          </a:xfrm>
          <a:prstGeom prst="roundRect">
            <a:avLst/>
          </a:prstGeom>
          <a:solidFill>
            <a:srgbClr val="23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t>Technical 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76272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235FAF"/>
                </a:solidFill>
                <a:latin typeface="Calibri"/>
              </a:rPr>
              <a:t>• Document CV &amp; Landmark Geometry: </a:t>
            </a:r>
            <a:r>
              <a:rPr sz="1000">
                <a:solidFill>
                  <a:srgbClr val="212529"/>
                </a:solidFill>
                <a:latin typeface="Calibri"/>
              </a:rPr>
              <a:t>Robust against smartphone camera angles, shadows, and low-light artifacts via adaptive OpenCV thresholding.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35FAF"/>
                </a:solidFill>
                <a:latin typeface="Calibri"/>
              </a:rPr>
              <a:t>• Lightweight &amp; Deployable ML: </a:t>
            </a:r>
            <a:r>
              <a:rPr sz="1000">
                <a:solidFill>
                  <a:srgbClr val="212529"/>
                </a:solidFill>
                <a:latin typeface="Calibri"/>
              </a:rPr>
              <a:t>PyTorch CNN &amp; XGBoost quantized models execute under 250ms per page on standard CPU servers—no expensive GPU farms needed.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35FAF"/>
                </a:solidFill>
                <a:latin typeface="Calibri"/>
              </a:rPr>
              <a:t>• High-Throughput Enterprise API: </a:t>
            </a:r>
            <a:r>
              <a:rPr sz="1000">
                <a:solidFill>
                  <a:srgbClr val="212529"/>
                </a:solidFill>
                <a:latin typeface="Calibri"/>
              </a:rPr>
              <a:t>FastAPI microservices support 100+ concurrent document submissions with Redis queue caching and PostgreSQL replication.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35FAF"/>
                </a:solidFill>
                <a:latin typeface="Calibri"/>
              </a:rPr>
              <a:t>• Zero-PII Compliance Architecture: </a:t>
            </a:r>
            <a:r>
              <a:rPr sz="1000">
                <a:solidFill>
                  <a:srgbClr val="212529"/>
                </a:solidFill>
                <a:latin typeface="Calibri"/>
              </a:rPr>
              <a:t>Adheres to DPDP Act 2023 &amp; UIDAI rules; processes spatial geometry without persistent storage of citizen biometrics.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1572768"/>
            <a:ext cx="4389120" cy="46451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69080" y="1691640"/>
            <a:ext cx="4114800" cy="384048"/>
          </a:xfrm>
          <a:prstGeom prst="round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t>Potential Risks &amp; Mitigation Strategies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2212848"/>
            <a:ext cx="1965960" cy="868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00">
                <a:solidFill>
                  <a:srgbClr val="973835"/>
                </a:solidFill>
                <a:latin typeface="Calibri"/>
              </a:defRPr>
            </a:pPr>
            <a:r>
              <a:t>Risk: Noisy/Blurred uploads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212848"/>
            <a:ext cx="2011680" cy="868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950">
                <a:solidFill>
                  <a:srgbClr val="212529"/>
                </a:solidFill>
                <a:latin typeface="Calibri"/>
              </a:defRPr>
            </a:pPr>
            <a:r>
              <a:t>Fix: Automated OpenCV pipeline deskews, denoises, and auto-enhances contrast prior to ML ingestion.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172968"/>
            <a:ext cx="1965960" cy="868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00">
                <a:solidFill>
                  <a:srgbClr val="973835"/>
                </a:solidFill>
                <a:latin typeface="Calibri"/>
              </a:defRPr>
            </a:pPr>
            <a:r>
              <a:t>Risk: Novel forgery variants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72968"/>
            <a:ext cx="2011680" cy="868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950">
                <a:solidFill>
                  <a:srgbClr val="212529"/>
                </a:solidFill>
                <a:latin typeface="Calibri"/>
              </a:defRPr>
            </a:pPr>
            <a:r>
              <a:t>Fix: Multi-modal verification: combines ELA compression noise, font geometry, and seal cross-verification.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4133087"/>
            <a:ext cx="1965960" cy="868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00">
                <a:solidFill>
                  <a:srgbClr val="973835"/>
                </a:solidFill>
                <a:latin typeface="Calibri"/>
              </a:defRPr>
            </a:pPr>
            <a:r>
              <a:t>Risk: Caseworker resistance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33087"/>
            <a:ext cx="2011680" cy="868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950">
                <a:solidFill>
                  <a:srgbClr val="212529"/>
                </a:solidFill>
                <a:latin typeface="Calibri"/>
              </a:defRPr>
            </a:pPr>
            <a:r>
              <a:t>Fix: Intuitive split-screen Cockpit with plain-English SHAP explanations—AI assists officers, never overrides.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5093208"/>
            <a:ext cx="1965960" cy="868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00">
                <a:solidFill>
                  <a:srgbClr val="973835"/>
                </a:solidFill>
                <a:latin typeface="Calibri"/>
              </a:defRPr>
            </a:pPr>
            <a:r>
              <a:t>Risk: Format changes across states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5093208"/>
            <a:ext cx="2011680" cy="868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950">
                <a:solidFill>
                  <a:srgbClr val="212529"/>
                </a:solidFill>
                <a:latin typeface="Calibri"/>
              </a:defRPr>
            </a:pPr>
            <a:r>
              <a:t>Fix: Configurable YAML rule engine allows local district administrators to update template rules instantly.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1572768"/>
            <a:ext cx="3291840" cy="4645152"/>
          </a:xfrm>
          <a:prstGeom prst="roundRect">
            <a:avLst/>
          </a:prstGeom>
          <a:solidFill>
            <a:srgbClr val="F8FDFA"/>
          </a:solidFill>
          <a:ln w="19050">
            <a:solidFill>
              <a:srgbClr val="238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41080" y="1691640"/>
            <a:ext cx="3017520" cy="384048"/>
          </a:xfrm>
          <a:prstGeom prst="roundRect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t>Practical Implementation &amp; Viability</a:t>
            </a:r>
          </a:p>
        </p:txBody>
      </p:sp>
      <p:sp>
        <p:nvSpPr>
          <p:cNvPr id="25" name="Oval 24"/>
          <p:cNvSpPr/>
          <p:nvPr/>
        </p:nvSpPr>
        <p:spPr>
          <a:xfrm>
            <a:off x="8641080" y="2240280"/>
            <a:ext cx="320040" cy="320040"/>
          </a:xfrm>
          <a:prstGeom prst="ellipse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203704"/>
            <a:ext cx="265176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b="1" sz="1050">
                <a:solidFill>
                  <a:srgbClr val="238741"/>
                </a:solidFill>
                <a:latin typeface="Calibri"/>
              </a:defRPr>
            </a:pPr>
            <a:r>
              <a:t>Drastic Cost Reduction: 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Drops adjudication cost from ₹450 (manual casework) to under ₹2.50 per automated verification.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8641080" y="3017520"/>
            <a:ext cx="320040" cy="320040"/>
          </a:xfrm>
          <a:prstGeom prst="ellipse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980944"/>
            <a:ext cx="265176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b="1" sz="1050">
                <a:solidFill>
                  <a:srgbClr val="238741"/>
                </a:solidFill>
                <a:latin typeface="Calibri"/>
              </a:defRPr>
            </a:pPr>
            <a:r>
              <a:t>Immediate Deployability: 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Dockerized container bundle readily deploys on State Data Centers (SDC) or NIC MeghRaj cloud.</a:t>
            </a:r>
          </a:p>
        </p:txBody>
      </p:sp>
      <p:sp>
        <p:nvSpPr>
          <p:cNvPr id="29" name="Oval 28"/>
          <p:cNvSpPr/>
          <p:nvPr/>
        </p:nvSpPr>
        <p:spPr>
          <a:xfrm>
            <a:off x="8641080" y="3794760"/>
            <a:ext cx="320040" cy="320040"/>
          </a:xfrm>
          <a:prstGeom prst="ellipse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758184"/>
            <a:ext cx="265176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b="1" sz="1050">
                <a:solidFill>
                  <a:srgbClr val="238741"/>
                </a:solidFill>
                <a:latin typeface="Calibri"/>
              </a:defRPr>
            </a:pPr>
            <a:r>
              <a:t>Frictionless Adoption: 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Intuitive PWA requires zero officer training; plain-language reason codes with visual bounding boxes.</a:t>
            </a:r>
          </a:p>
        </p:txBody>
      </p:sp>
      <p:sp>
        <p:nvSpPr>
          <p:cNvPr id="31" name="Oval 30"/>
          <p:cNvSpPr/>
          <p:nvPr/>
        </p:nvSpPr>
        <p:spPr>
          <a:xfrm>
            <a:off x="8641080" y="4572000"/>
            <a:ext cx="320040" cy="320040"/>
          </a:xfrm>
          <a:prstGeom prst="ellipse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535424"/>
            <a:ext cx="265176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b="1" sz="1050">
                <a:solidFill>
                  <a:srgbClr val="238741"/>
                </a:solidFill>
                <a:latin typeface="Calibri"/>
              </a:defRPr>
            </a:pPr>
            <a:r>
              <a:t>Statutory Admissibility: 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Cryptographic SHA-256 digital stamp and audit log admissible under Right to Public Services Act.</a:t>
            </a:r>
          </a:p>
        </p:txBody>
      </p:sp>
      <p:sp>
        <p:nvSpPr>
          <p:cNvPr id="33" name="Oval 32"/>
          <p:cNvSpPr/>
          <p:nvPr/>
        </p:nvSpPr>
        <p:spPr>
          <a:xfrm>
            <a:off x="8641080" y="5349240"/>
            <a:ext cx="320040" cy="320040"/>
          </a:xfrm>
          <a:prstGeom prst="ellipse">
            <a:avLst/>
          </a:prstGeom>
          <a:solidFill>
            <a:srgbClr val="238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5312664"/>
            <a:ext cx="265176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b="1" sz="1050">
                <a:solidFill>
                  <a:srgbClr val="238741"/>
                </a:solidFill>
                <a:latin typeface="Calibri"/>
              </a:defRPr>
            </a:pPr>
            <a:r>
              <a:t>Real-Time Telemetry: 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Ministerial dashboard offers live tracking of fund disbursement speed, fraud heatmaps, and scheme bottlenecks.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logo_circl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1051560" cy="1051560"/>
          </a:xfrm>
          <a:prstGeom prst="rect">
            <a:avLst/>
          </a:prstGeom>
        </p:spPr>
      </p:pic>
      <p:pic>
        <p:nvPicPr>
          <p:cNvPr id="4" name="Picture 3" descr="sih_logo_perfe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73152"/>
            <a:ext cx="224028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973835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64224"/>
            <a:ext cx="12191999" cy="493776"/>
          </a:xfrm>
          <a:prstGeom prst="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973835"/>
                </a:solidFill>
                <a:latin typeface="Calibri"/>
              </a:defRPr>
            </a:pPr>
            <a:r>
              <a:t>POTENTIAL IMPACT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89888"/>
            <a:ext cx="2926080" cy="877824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50">
                <a:solidFill>
                  <a:srgbClr val="973835"/>
                </a:solidFill>
                <a:latin typeface="Calibri"/>
              </a:defRPr>
            </a:pPr>
            <a:r>
              <a:t>1. CITIZEN UPLOAD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Applicant or contractor uploads files via mobile scanner or web portal.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50008"/>
            <a:ext cx="2926080" cy="877824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50">
                <a:solidFill>
                  <a:srgbClr val="973835"/>
                </a:solidFill>
                <a:latin typeface="Calibri"/>
              </a:defRPr>
            </a:pPr>
            <a:r>
              <a:t>2. AUTOGOV+ INGESTION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Auto-deskew, layout categorization, and OCR text extraction in &lt; 1.2s.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310128"/>
            <a:ext cx="2926080" cy="877824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50">
                <a:solidFill>
                  <a:srgbClr val="973835"/>
                </a:solidFill>
                <a:latin typeface="Calibri"/>
              </a:defRPr>
            </a:pPr>
            <a:r>
              <a:t>3. AI INTEGRITY AUDIT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PyTorch ELA checks tampering; FAISS checks cross-scheme duplicates.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270248"/>
            <a:ext cx="2926080" cy="877824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50">
                <a:solidFill>
                  <a:srgbClr val="973835"/>
                </a:solidFill>
                <a:latin typeface="Calibri"/>
              </a:defRPr>
            </a:pPr>
            <a:r>
              <a:t>4. EXPLAINABLE CLEARANCE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Clean files auto-approved; high-risk flagged with SHAP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230368"/>
            <a:ext cx="2926080" cy="877824"/>
          </a:xfrm>
          <a:prstGeom prst="roundRect">
            <a:avLst/>
          </a:prstGeom>
          <a:solidFill>
            <a:srgbClr val="FDF5F5"/>
          </a:solidFill>
          <a:ln w="1270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b="1" sz="1050">
                <a:solidFill>
                  <a:srgbClr val="973835"/>
                </a:solidFill>
                <a:latin typeface="Calibri"/>
              </a:defRPr>
            </a:pPr>
            <a:r>
              <a:t>5. TRANSPARENT GOVERNANCE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Instant disbursement, zero leakages, and tamper-proof public audit trail.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0515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973835"/>
                </a:solidFill>
                <a:latin typeface="Calibri"/>
              </a:defRPr>
            </a:pPr>
            <a:r>
              <a:t>BENEFITS BY PILLAR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389888"/>
            <a:ext cx="54864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1463040"/>
            <a:ext cx="1737360" cy="731520"/>
          </a:xfrm>
          <a:prstGeom prst="roundRect">
            <a:avLst/>
          </a:prstGeom>
          <a:solidFill>
            <a:srgbClr val="6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Target Beneficiaries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408176"/>
            <a:ext cx="3474720" cy="82296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• Citizens applying for welfare schemes &amp; institutional certificates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• District Collectors, Nodal Adjudication Officers &amp; Caseworkers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350008"/>
            <a:ext cx="54864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2423160"/>
            <a:ext cx="1737360" cy="731520"/>
          </a:xfrm>
          <a:prstGeom prst="roundRect">
            <a:avLst/>
          </a:prstGeom>
          <a:solidFill>
            <a:srgbClr val="D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Social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368296"/>
            <a:ext cx="3474720" cy="82296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• Eradicates bureaucratic delays and citizen harassment in welfare access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• Eliminates rent-seeking and arbitrary manual document rejection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310128"/>
            <a:ext cx="54864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66160" y="3383280"/>
            <a:ext cx="1737360" cy="731520"/>
          </a:xfrm>
          <a:prstGeom prst="roundRect">
            <a:avLst/>
          </a:prstGeom>
          <a:solidFill>
            <a:srgbClr val="C8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Economic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328416"/>
            <a:ext cx="3474720" cy="82296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• Saves crores by eliminating cross-scheme duplicate billing &amp; ghost projects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• Lowers administrative processing expenditure from ₹450 to ₹2.50 per case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270248"/>
            <a:ext cx="54864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66160" y="4343400"/>
            <a:ext cx="1737360" cy="731520"/>
          </a:xfrm>
          <a:prstGeom prst="roundRect">
            <a:avLst/>
          </a:prstGeom>
          <a:solidFill>
            <a:srgbClr val="1E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Operational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288536"/>
            <a:ext cx="3474720" cy="82296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• 10x to 100x clearance acceleration: turnaround slashed from 25 days to 4.8s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• 100% computational audit coverage: replaces flawed random spot-checks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5230368"/>
            <a:ext cx="5486400" cy="8778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66160" y="5303520"/>
            <a:ext cx="1737360" cy="731520"/>
          </a:xfrm>
          <a:prstGeom prst="roundRect">
            <a:avLst/>
          </a:prstGeom>
          <a:solidFill>
            <a:srgbClr val="1E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Technological &amp; Governance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5248656"/>
            <a:ext cx="3474720" cy="82296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• Zero-PII layout analysis adhering to DPDP Act 2023 &amp; UIDAI circulars</a:t>
            </a:r>
          </a:p>
          <a:p>
            <a:pPr>
              <a:defRPr sz="950">
                <a:solidFill>
                  <a:srgbClr val="212529"/>
                </a:solidFill>
                <a:latin typeface="Calibri"/>
              </a:defRPr>
            </a:pPr>
            <a:r>
              <a:t>• Court-admissible Explainable AI (SHAP) eliminating 'black box' rejections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1389888"/>
            <a:ext cx="2651760" cy="4754880"/>
          </a:xfrm>
          <a:prstGeom prst="roundRect">
            <a:avLst/>
          </a:prstGeom>
          <a:solidFill>
            <a:srgbClr val="FDF5F5"/>
          </a:solidFill>
          <a:ln w="19050">
            <a:solidFill>
              <a:srgbClr val="97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973835"/>
                </a:solidFill>
                <a:latin typeface="Calibri"/>
              </a:defRPr>
            </a:pPr>
            <a:r>
              <a:t>AUTOGOV+ GOVERNANCE VISION</a:t>
            </a:r>
          </a:p>
          <a:p>
            <a:pPr algn="ctr">
              <a:spcBef>
                <a:spcPts val="1600"/>
              </a:spcBef>
              <a:defRPr i="1" sz="1300">
                <a:solidFill>
                  <a:srgbClr val="212529"/>
                </a:solidFill>
                <a:latin typeface="Calibri"/>
              </a:defRPr>
            </a:pPr>
            <a:r>
              <a:t>"A high-velocity, tamper-proof, and explainable governance infrastructure ensuring public welfare and MPLADS funds reach every rightful citizen without delay, leakage, or bureaucratic friction."</a:t>
            </a:r>
          </a:p>
          <a:p>
            <a:pPr algn="ctr">
              <a:spcBef>
                <a:spcPts val="2000"/>
              </a:spcBef>
              <a:defRPr b="1" sz="1200">
                <a:solidFill>
                  <a:srgbClr val="973835"/>
                </a:solidFill>
                <a:latin typeface="Calibri"/>
              </a:defRPr>
            </a:pPr>
            <a:r>
              <a:t>✓ 82% Auto-Clearance Rate</a:t>
            </a:r>
            <a:br/>
            <a:r>
              <a:t>✓ &lt; 4.8s Turnaround Time</a:t>
            </a:r>
            <a:br/>
            <a:r>
              <a:t>✓ 94% Cost Reduction</a:t>
            </a:r>
            <a:br/>
            <a:r>
              <a:t>✓ Zero-PII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logo_circl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1051560" cy="1051560"/>
          </a:xfrm>
          <a:prstGeom prst="rect">
            <a:avLst/>
          </a:prstGeom>
        </p:spPr>
      </p:pic>
      <p:pic>
        <p:nvPicPr>
          <p:cNvPr id="4" name="Picture 3" descr="sih_logo_perfe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73152"/>
            <a:ext cx="224028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973835"/>
                </a:solidFill>
                <a:latin typeface="Calibri"/>
              </a:defRPr>
            </a:pPr>
            <a:r>
              <a:t>RESEARCH 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64224"/>
            <a:ext cx="12191999" cy="493776"/>
          </a:xfrm>
          <a:prstGeom prst="rect">
            <a:avLst/>
          </a:prstGeom>
          <a:solidFill>
            <a:srgbClr val="97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b="1" sz="1500">
                <a:solidFill>
                  <a:srgbClr val="973835"/>
                </a:solidFill>
                <a:latin typeface="Calibri"/>
              </a:defRPr>
            </a:pPr>
            <a:r>
              <a:t>1. Statutory Standards &amp; e-Governance Policies</a:t>
            </a:r>
          </a:p>
          <a:p>
            <a:pPr>
              <a:spcAft>
                <a:spcPts val="300"/>
              </a:spcAft>
              <a:defRPr>
                <a:latin typeface="Calibri"/>
              </a:defRPr>
            </a:pPr>
            <a:r>
              <a:rPr b="1" sz="1150">
                <a:solidFill>
                  <a:srgbClr val="973835"/>
                </a:solidFill>
              </a:rPr>
              <a:t>•  </a:t>
            </a:r>
            <a:r>
              <a:rPr b="1" sz="1150">
                <a:solidFill>
                  <a:srgbClr val="000000"/>
                </a:solidFill>
              </a:rPr>
              <a:t>Digital Personal Data Protection (DPDP) Act 2023: </a:t>
            </a:r>
            <a:r>
              <a:rPr b="0" sz="1150">
                <a:solidFill>
                  <a:srgbClr val="212529"/>
                </a:solidFill>
              </a:rPr>
              <a:t>Mandatory data minimization, purpose limitation, and zero-PII architectural standards for citizen document handling.</a:t>
            </a:r>
          </a:p>
          <a:p>
            <a:pPr>
              <a:spcAft>
                <a:spcPts val="300"/>
              </a:spcAft>
              <a:defRPr>
                <a:latin typeface="Calibri"/>
              </a:defRPr>
            </a:pPr>
            <a:r>
              <a:rPr b="1" sz="1150">
                <a:solidFill>
                  <a:srgbClr val="973835"/>
                </a:solidFill>
              </a:rPr>
              <a:t>•  </a:t>
            </a:r>
            <a:r>
              <a:rPr b="1" sz="1150">
                <a:solidFill>
                  <a:srgbClr val="000000"/>
                </a:solidFill>
              </a:rPr>
              <a:t>Right to Public Services (RTS) Act: </a:t>
            </a:r>
            <a:r>
              <a:rPr b="0" sz="1150">
                <a:solidFill>
                  <a:srgbClr val="212529"/>
                </a:solidFill>
              </a:rPr>
              <a:t>Statutory delivery timelines for public scheme sanctioning and digital certificate issuance.</a:t>
            </a:r>
          </a:p>
          <a:p>
            <a:pPr>
              <a:spcAft>
                <a:spcPts val="300"/>
              </a:spcAft>
              <a:defRPr>
                <a:latin typeface="Calibri"/>
              </a:defRPr>
            </a:pPr>
            <a:r>
              <a:rPr b="1" sz="1150">
                <a:solidFill>
                  <a:srgbClr val="973835"/>
                </a:solidFill>
              </a:rPr>
              <a:t>•  </a:t>
            </a:r>
            <a:r>
              <a:rPr b="1" sz="1150">
                <a:solidFill>
                  <a:srgbClr val="000000"/>
                </a:solidFill>
              </a:rPr>
              <a:t>MeitY Guidelines on e-Governance Applications (e-Gov Standards 2.0): </a:t>
            </a:r>
            <a:r>
              <a:rPr b="0" sz="1150">
                <a:solidFill>
                  <a:srgbClr val="212529"/>
                </a:solidFill>
              </a:rPr>
              <a:t>Interoperability specifications, API protocols, and cryptographic audit trail mandates.</a:t>
            </a:r>
          </a:p>
          <a:p>
            <a:pPr>
              <a:spcAft>
                <a:spcPts val="300"/>
              </a:spcAft>
              <a:defRPr>
                <a:latin typeface="Calibri"/>
              </a:defRPr>
            </a:pPr>
            <a:r>
              <a:rPr b="1" sz="1150">
                <a:solidFill>
                  <a:srgbClr val="973835"/>
                </a:solidFill>
              </a:rPr>
              <a:t>•  </a:t>
            </a:r>
            <a:r>
              <a:rPr b="1" sz="1150">
                <a:solidFill>
                  <a:srgbClr val="000000"/>
                </a:solidFill>
              </a:rPr>
              <a:t>UIDAI Technical Circulars (Aadhaar Data Security Regulations): </a:t>
            </a:r>
            <a:r>
              <a:rPr b="0" sz="1150">
                <a:solidFill>
                  <a:srgbClr val="212529"/>
                </a:solidFill>
              </a:rPr>
              <a:t>Strict prohibition on persistent raw biometric and unmasked identifier storage in public databases.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500">
                <a:solidFill>
                  <a:srgbClr val="973835"/>
                </a:solidFill>
                <a:latin typeface="Calibri"/>
              </a:defRPr>
            </a:pPr>
            <a:r>
              <a:t>2. Computer Vision, Document Geometry &amp; Forgery Detection</a:t>
            </a:r>
          </a:p>
          <a:p>
            <a:pPr>
              <a:spcAft>
                <a:spcPts val="300"/>
              </a:spcAft>
              <a:defRPr>
                <a:latin typeface="Calibri"/>
              </a:defRPr>
            </a:pPr>
            <a:r>
              <a:rPr b="1" sz="1150">
                <a:solidFill>
                  <a:srgbClr val="973835"/>
                </a:solidFill>
              </a:rPr>
              <a:t>•  </a:t>
            </a:r>
            <a:r>
              <a:rPr b="1" sz="1150">
                <a:solidFill>
                  <a:srgbClr val="000000"/>
                </a:solidFill>
              </a:rPr>
              <a:t>Krawetz, N. (2007): </a:t>
            </a:r>
            <a:r>
              <a:rPr b="0" sz="1150">
                <a:solidFill>
                  <a:srgbClr val="212529"/>
                </a:solidFill>
              </a:rPr>
              <a:t>A Picture's Worth... Digital Image Analysis &amp; Error Level Analysis (ELA) — Baseline compression quantization principles for identifying spliced signatures and altered text figures.</a:t>
            </a:r>
          </a:p>
          <a:p>
            <a:pPr>
              <a:spcAft>
                <a:spcPts val="300"/>
              </a:spcAft>
              <a:defRPr>
                <a:latin typeface="Calibri"/>
              </a:defRPr>
            </a:pPr>
            <a:r>
              <a:rPr b="1" sz="1150">
                <a:solidFill>
                  <a:srgbClr val="973835"/>
                </a:solidFill>
              </a:rPr>
              <a:t>•  </a:t>
            </a:r>
            <a:r>
              <a:rPr b="1" sz="1150">
                <a:solidFill>
                  <a:srgbClr val="000000"/>
                </a:solidFill>
              </a:rPr>
              <a:t>Barlas et al. (2021): </a:t>
            </a:r>
            <a:r>
              <a:rPr b="0" sz="1150">
                <a:solidFill>
                  <a:srgbClr val="212529"/>
                </a:solidFill>
              </a:rPr>
              <a:t>Document Layout Analysis and Geometric Feature Alignment for Fraud Detection — Spatial bounding-box alignment for institutional seals, stamps, and layout integrity.</a:t>
            </a:r>
          </a:p>
          <a:p>
            <a:pPr>
              <a:spcAft>
                <a:spcPts val="300"/>
              </a:spcAft>
              <a:defRPr>
                <a:latin typeface="Calibri"/>
              </a:defRPr>
            </a:pPr>
            <a:r>
              <a:rPr b="1" sz="1150">
                <a:solidFill>
                  <a:srgbClr val="973835"/>
                </a:solidFill>
              </a:rPr>
              <a:t>•  </a:t>
            </a:r>
            <a:r>
              <a:rPr b="1" sz="1150">
                <a:solidFill>
                  <a:srgbClr val="000000"/>
                </a:solidFill>
              </a:rPr>
              <a:t>Redmon et al. (YOLO) &amp; OpenCV DNN: </a:t>
            </a:r>
            <a:r>
              <a:rPr b="0" sz="1150">
                <a:solidFill>
                  <a:srgbClr val="212529"/>
                </a:solidFill>
              </a:rPr>
              <a:t>High-throughput real-time bounding box extraction and landmark localization across varied government forms.</a:t>
            </a:r>
          </a:p>
          <a:p>
            <a:pPr>
              <a:spcAft>
                <a:spcPts val="300"/>
              </a:spcAft>
              <a:defRPr>
                <a:latin typeface="Calibri"/>
              </a:defRPr>
            </a:pPr>
            <a:r>
              <a:rPr b="1" sz="1150">
                <a:solidFill>
                  <a:srgbClr val="973835"/>
                </a:solidFill>
              </a:rPr>
              <a:t>•  </a:t>
            </a:r>
            <a:r>
              <a:rPr b="1" sz="1150">
                <a:solidFill>
                  <a:srgbClr val="000000"/>
                </a:solidFill>
              </a:rPr>
              <a:t>ArUco &amp; Dynamic Geometric Calibration: </a:t>
            </a:r>
            <a:r>
              <a:rPr b="0" sz="1150">
                <a:solidFill>
                  <a:srgbClr val="212529"/>
                </a:solidFill>
              </a:rPr>
              <a:t>Pixel-to-millimeter reference calibration for precise spatial boundary verification.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500">
                <a:solidFill>
                  <a:srgbClr val="973835"/>
                </a:solidFill>
                <a:latin typeface="Calibri"/>
              </a:defRPr>
            </a:pPr>
            <a:r>
              <a:t>3. Semantic Deduplication &amp; Explainable AI</a:t>
            </a:r>
          </a:p>
          <a:p>
            <a:pPr>
              <a:spcAft>
                <a:spcPts val="300"/>
              </a:spcAft>
              <a:defRPr>
                <a:latin typeface="Calibri"/>
              </a:defRPr>
            </a:pPr>
            <a:r>
              <a:rPr b="1" sz="1150">
                <a:solidFill>
                  <a:srgbClr val="973835"/>
                </a:solidFill>
              </a:rPr>
              <a:t>•  </a:t>
            </a:r>
            <a:r>
              <a:rPr b="1" sz="1150">
                <a:solidFill>
                  <a:srgbClr val="000000"/>
                </a:solidFill>
              </a:rPr>
              <a:t>Reimers &amp; Gurevych (2019): </a:t>
            </a:r>
            <a:r>
              <a:rPr b="0" sz="1150">
                <a:solidFill>
                  <a:srgbClr val="212529"/>
                </a:solidFill>
              </a:rPr>
              <a:t>Sentence-BERT: Sentence Embeddings using Siamese BERT-Networks — Dense semantic representations for detecting duplicate public works billing and contractor collusion.</a:t>
            </a:r>
          </a:p>
          <a:p>
            <a:pPr>
              <a:spcAft>
                <a:spcPts val="300"/>
              </a:spcAft>
              <a:defRPr>
                <a:latin typeface="Calibri"/>
              </a:defRPr>
            </a:pPr>
            <a:r>
              <a:rPr b="1" sz="1150">
                <a:solidFill>
                  <a:srgbClr val="973835"/>
                </a:solidFill>
              </a:rPr>
              <a:t>•  </a:t>
            </a:r>
            <a:r>
              <a:rPr b="1" sz="1150">
                <a:solidFill>
                  <a:srgbClr val="000000"/>
                </a:solidFill>
              </a:rPr>
              <a:t>Johnson, Douze, &amp; Jégou (Meta AI, 2019): </a:t>
            </a:r>
            <a:r>
              <a:rPr b="0" sz="1150">
                <a:solidFill>
                  <a:srgbClr val="212529"/>
                </a:solidFill>
              </a:rPr>
              <a:t>Billion-scale similarity search with FAISS — Sub-millisecond vector indexing across millions of municipal, state, and MPLAD scheme registries.</a:t>
            </a:r>
          </a:p>
          <a:p>
            <a:pPr>
              <a:spcAft>
                <a:spcPts val="300"/>
              </a:spcAft>
              <a:defRPr>
                <a:latin typeface="Calibri"/>
              </a:defRPr>
            </a:pPr>
            <a:r>
              <a:rPr b="1" sz="1150">
                <a:solidFill>
                  <a:srgbClr val="973835"/>
                </a:solidFill>
              </a:rPr>
              <a:t>•  </a:t>
            </a:r>
            <a:r>
              <a:rPr b="1" sz="1150">
                <a:solidFill>
                  <a:srgbClr val="000000"/>
                </a:solidFill>
              </a:rPr>
              <a:t>Lundberg &amp; Lee (2017): </a:t>
            </a:r>
            <a:r>
              <a:rPr b="0" sz="1150">
                <a:solidFill>
                  <a:srgbClr val="212529"/>
                </a:solidFill>
              </a:rPr>
              <a:t>A Unified Approach to Interpreting Model Predictions (SHAP) — Game-theoretic Shapley additive explanations for legally admissible, court-defensible AI adjudication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